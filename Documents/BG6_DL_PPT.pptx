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3.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7" r:id="rId2"/>
    <p:sldId id="258" r:id="rId3"/>
    <p:sldId id="259" r:id="rId4"/>
    <p:sldId id="260" r:id="rId5"/>
    <p:sldId id="274" r:id="rId6"/>
    <p:sldId id="275" r:id="rId7"/>
    <p:sldId id="285" r:id="rId8"/>
    <p:sldId id="286" r:id="rId9"/>
    <p:sldId id="261" r:id="rId10"/>
    <p:sldId id="283" r:id="rId11"/>
    <p:sldId id="279" r:id="rId12"/>
    <p:sldId id="284" r:id="rId13"/>
    <p:sldId id="265" r:id="rId14"/>
    <p:sldId id="287" r:id="rId15"/>
    <p:sldId id="288" r:id="rId16"/>
    <p:sldId id="289" r:id="rId17"/>
    <p:sldId id="266" r:id="rId18"/>
    <p:sldId id="267" r:id="rId19"/>
    <p:sldId id="280" r:id="rId20"/>
    <p:sldId id="290" r:id="rId21"/>
    <p:sldId id="291" r:id="rId22"/>
    <p:sldId id="292" r:id="rId23"/>
    <p:sldId id="268" r:id="rId24"/>
    <p:sldId id="269" r:id="rId25"/>
    <p:sldId id="281" r:id="rId26"/>
    <p:sldId id="282" r:id="rId27"/>
    <p:sldId id="270" r:id="rId28"/>
    <p:sldId id="271" r:id="rId29"/>
    <p:sldId id="273" r:id="rId30"/>
    <p:sldId id="272" r:id="rId31"/>
  </p:sldIdLst>
  <p:sldSz cx="12192000" cy="6858000"/>
  <p:notesSz cx="12192000" cy="68580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B6673DD-87B9-4401-8D3D-41540537BC4B}" type="datetimeFigureOut">
              <a:rPr lang="en-IN" smtClean="0"/>
              <a:t>06-02-2026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44EEF7E-BD94-4A64-B3E9-57D9336FACD1}" type="slidenum">
              <a:rPr lang="en-IN" smtClean="0"/>
              <a:t>‹#›</a:t>
            </a:fld>
            <a:endParaRPr lang="en-IN"/>
          </a:p>
        </p:txBody>
      </p:sp>
    </p:spTree>
    <p:extLst>
      <p:ext uri="{BB962C8B-B14F-4D97-AF65-F5344CB8AC3E}">
        <p14:creationId xmlns:p14="http://schemas.microsoft.com/office/powerpoint/2010/main" val="1977340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3</a:t>
            </a:fld>
            <a:endParaRPr lang="en-IN"/>
          </a:p>
        </p:txBody>
      </p:sp>
    </p:spTree>
    <p:extLst>
      <p:ext uri="{BB962C8B-B14F-4D97-AF65-F5344CB8AC3E}">
        <p14:creationId xmlns:p14="http://schemas.microsoft.com/office/powerpoint/2010/main" val="3514221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4</a:t>
            </a:fld>
            <a:endParaRPr lang="en-IN"/>
          </a:p>
        </p:txBody>
      </p:sp>
    </p:spTree>
    <p:extLst>
      <p:ext uri="{BB962C8B-B14F-4D97-AF65-F5344CB8AC3E}">
        <p14:creationId xmlns:p14="http://schemas.microsoft.com/office/powerpoint/2010/main" val="3262953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9</a:t>
            </a:fld>
            <a:endParaRPr lang="en-IN"/>
          </a:p>
        </p:txBody>
      </p:sp>
    </p:spTree>
    <p:extLst>
      <p:ext uri="{BB962C8B-B14F-4D97-AF65-F5344CB8AC3E}">
        <p14:creationId xmlns:p14="http://schemas.microsoft.com/office/powerpoint/2010/main" val="891982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F7AA5-EC83-CCE3-0819-E46B3732F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AB48B-8788-C9EA-6B13-98296FB6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344F3-CEC1-0CD7-9091-DEC3D017F9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106494-E813-E4A0-408A-2E1A7BAB42FF}"/>
              </a:ext>
            </a:extLst>
          </p:cNvPr>
          <p:cNvSpPr>
            <a:spLocks noGrp="1"/>
          </p:cNvSpPr>
          <p:nvPr>
            <p:ph type="sldNum" sz="quarter" idx="5"/>
          </p:nvPr>
        </p:nvSpPr>
        <p:spPr/>
        <p:txBody>
          <a:bodyPr/>
          <a:lstStyle/>
          <a:p>
            <a:fld id="{244EEF7E-BD94-4A64-B3E9-57D9336FACD1}" type="slidenum">
              <a:rPr lang="en-IN" smtClean="0"/>
              <a:t>10</a:t>
            </a:fld>
            <a:endParaRPr lang="en-IN"/>
          </a:p>
        </p:txBody>
      </p:sp>
    </p:spTree>
    <p:extLst>
      <p:ext uri="{BB962C8B-B14F-4D97-AF65-F5344CB8AC3E}">
        <p14:creationId xmlns:p14="http://schemas.microsoft.com/office/powerpoint/2010/main" val="341789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11</a:t>
            </a:fld>
            <a:endParaRPr lang="en-IN"/>
          </a:p>
        </p:txBody>
      </p:sp>
    </p:spTree>
    <p:extLst>
      <p:ext uri="{BB962C8B-B14F-4D97-AF65-F5344CB8AC3E}">
        <p14:creationId xmlns:p14="http://schemas.microsoft.com/office/powerpoint/2010/main" val="2010586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05148" y="6451049"/>
            <a:ext cx="644525" cy="359073"/>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5" name="Holder 5"/>
          <p:cNvSpPr>
            <a:spLocks noGrp="1"/>
          </p:cNvSpPr>
          <p:nvPr>
            <p:ph type="dt" sz="half" idx="6"/>
          </p:nvPr>
        </p:nvSpPr>
        <p:spPr>
          <a:xfrm>
            <a:off x="917575" y="6451049"/>
            <a:ext cx="737235" cy="179536"/>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pdf/2205.14354"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arxiv.org/pdf/2306.04842" TargetMode="External"/><Relationship Id="rId4" Type="http://schemas.openxmlformats.org/officeDocument/2006/relationships/hyperlink" Target="https://www.ecva.net/papers/eccv_2022/papers_ECCV/papers/136870506.pdf"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ecva.net/papers/eccv_2022/papers_ECCV/papers/136870506.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arxiv.org/pdf/2307.15362" TargetMode="External"/><Relationship Id="rId4" Type="http://schemas.openxmlformats.org/officeDocument/2006/relationships/hyperlink" Target="https://arxiv.org/pdf/2308.05721"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publicdomainpictures.net/view-image.php?image=380701&amp;picture=any-questions" TargetMode="External"/><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15844" y="123970"/>
            <a:ext cx="10414156" cy="2144672"/>
          </a:xfrm>
          <a:prstGeom prst="rect">
            <a:avLst/>
          </a:prstGeom>
        </p:spPr>
        <p:txBody>
          <a:bodyPr vert="horz" wrap="square" lIns="0" tIns="478010" rIns="0" bIns="0" rtlCol="0">
            <a:spAutoFit/>
          </a:bodyPr>
          <a:lstStyle/>
          <a:p>
            <a:pPr marL="248285" algn="ctr">
              <a:lnSpc>
                <a:spcPct val="100000"/>
              </a:lnSpc>
              <a:spcBef>
                <a:spcPts val="509"/>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a:t>and</a:t>
            </a:r>
            <a:r>
              <a:rPr sz="1800" spc="40"/>
              <a:t> </a:t>
            </a:r>
            <a:r>
              <a:rPr sz="1800" spc="-10"/>
              <a:t>Engineering</a:t>
            </a:r>
            <a:br>
              <a:rPr lang="en-US" sz="1800" spc="-10"/>
            </a:br>
            <a:br>
              <a:rPr lang="en-US" sz="1800" spc="-10"/>
            </a:br>
            <a:r>
              <a:rPr lang="en-US" sz="2400">
                <a:solidFill>
                  <a:srgbClr val="FF0000"/>
                </a:solidFill>
              </a:rPr>
              <a:t>Combining Deformable CNNs and Transformers for Real-Time Multi-Task Dense Prediction</a:t>
            </a:r>
            <a:br>
              <a:rPr lang="en-US" sz="2400">
                <a:solidFill>
                  <a:srgbClr val="FF0000"/>
                </a:solidFill>
              </a:rPr>
            </a:br>
            <a:endParaRPr sz="2400">
              <a:solidFill>
                <a:srgbClr val="FF0000"/>
              </a:solidFill>
            </a:endParaRPr>
          </a:p>
        </p:txBody>
      </p:sp>
      <p:sp>
        <p:nvSpPr>
          <p:cNvPr id="4" name="object 4"/>
          <p:cNvSpPr txBox="1"/>
          <p:nvPr/>
        </p:nvSpPr>
        <p:spPr>
          <a:xfrm>
            <a:off x="5704840" y="1946592"/>
            <a:ext cx="1503045" cy="254557"/>
          </a:xfrm>
          <a:prstGeom prst="rect">
            <a:avLst/>
          </a:prstGeom>
        </p:spPr>
        <p:txBody>
          <a:bodyPr vert="horz" wrap="square" lIns="0" tIns="15875" rIns="0" bIns="0" rtlCol="0">
            <a:spAutoFit/>
          </a:bodyPr>
          <a:lstStyle/>
          <a:p>
            <a:pPr marL="12700">
              <a:lnSpc>
                <a:spcPct val="100000"/>
              </a:lnSpc>
              <a:spcBef>
                <a:spcPts val="125"/>
              </a:spcBef>
            </a:pPr>
            <a:r>
              <a:rPr sz="1550">
                <a:latin typeface="Times New Roman"/>
                <a:cs typeface="Times New Roman"/>
              </a:rPr>
              <a:t>PRESENTED</a:t>
            </a:r>
            <a:r>
              <a:rPr sz="1550" spc="175">
                <a:latin typeface="Times New Roman"/>
                <a:cs typeface="Times New Roman"/>
              </a:rPr>
              <a:t> </a:t>
            </a:r>
            <a:r>
              <a:rPr sz="1550" spc="-25" dirty="0">
                <a:latin typeface="Times New Roman"/>
                <a:cs typeface="Times New Roman"/>
              </a:rPr>
              <a:t>BY</a:t>
            </a:r>
            <a:endParaRPr sz="1550">
              <a:latin typeface="Times New Roman"/>
              <a:cs typeface="Times New Roman"/>
            </a:endParaRPr>
          </a:p>
        </p:txBody>
      </p:sp>
      <p:sp>
        <p:nvSpPr>
          <p:cNvPr id="5" name="object 5"/>
          <p:cNvSpPr txBox="1"/>
          <p:nvPr/>
        </p:nvSpPr>
        <p:spPr>
          <a:xfrm>
            <a:off x="2971801" y="2186876"/>
            <a:ext cx="2667000" cy="1015856"/>
          </a:xfrm>
          <a:prstGeom prst="rect">
            <a:avLst/>
          </a:prstGeom>
        </p:spPr>
        <p:txBody>
          <a:bodyPr vert="horz" wrap="square" lIns="0" tIns="12065" rIns="0" bIns="0" rtlCol="0">
            <a:spAutoFit/>
          </a:bodyPr>
          <a:lstStyle/>
          <a:p>
            <a:pPr marL="12700" marR="5080" algn="r">
              <a:lnSpc>
                <a:spcPct val="137300"/>
              </a:lnSpc>
              <a:spcBef>
                <a:spcPts val="95"/>
              </a:spcBef>
            </a:pPr>
            <a:r>
              <a:rPr lang="en-US" sz="1550">
                <a:latin typeface="Times New Roman"/>
                <a:cs typeface="Times New Roman"/>
              </a:rPr>
              <a:t>AMBATI ANITHA</a:t>
            </a:r>
            <a:r>
              <a:rPr lang="en-US" sz="1550" spc="-10">
                <a:latin typeface="Times New Roman"/>
                <a:cs typeface="Times New Roman"/>
              </a:rPr>
              <a:t>  </a:t>
            </a:r>
            <a:r>
              <a:rPr sz="1550" spc="-10">
                <a:latin typeface="Times New Roman"/>
                <a:cs typeface="Times New Roman"/>
              </a:rPr>
              <a:t> </a:t>
            </a:r>
            <a:endParaRPr lang="en-US" sz="1550" spc="-10">
              <a:latin typeface="Times New Roman"/>
              <a:cs typeface="Times New Roman"/>
            </a:endParaRPr>
          </a:p>
          <a:p>
            <a:pPr marL="12700" marR="5080" algn="r">
              <a:lnSpc>
                <a:spcPct val="137300"/>
              </a:lnSpc>
              <a:spcBef>
                <a:spcPts val="95"/>
              </a:spcBef>
            </a:pPr>
            <a:r>
              <a:rPr lang="en-US" sz="1550" spc="-10">
                <a:latin typeface="Times New Roman"/>
                <a:cs typeface="Times New Roman"/>
              </a:rPr>
              <a:t>MUTHYALA </a:t>
            </a:r>
            <a:r>
              <a:rPr lang="en-US" sz="1600" spc="-10">
                <a:latin typeface="Times New Roman"/>
                <a:cs typeface="Times New Roman"/>
              </a:rPr>
              <a:t>KATHYAYANI</a:t>
            </a:r>
            <a:r>
              <a:rPr lang="en-US" sz="1550" spc="-10">
                <a:latin typeface="Times New Roman"/>
                <a:cs typeface="Times New Roman"/>
              </a:rPr>
              <a:t> </a:t>
            </a:r>
            <a:r>
              <a:rPr sz="1550" spc="-10">
                <a:latin typeface="Times New Roman"/>
                <a:cs typeface="Times New Roman"/>
              </a:rPr>
              <a:t> </a:t>
            </a:r>
            <a:r>
              <a:rPr lang="en-US" sz="1550">
                <a:latin typeface="Times New Roman"/>
                <a:cs typeface="Times New Roman"/>
              </a:rPr>
              <a:t>SANAGALA HARSHINI</a:t>
            </a:r>
          </a:p>
        </p:txBody>
      </p:sp>
      <p:sp>
        <p:nvSpPr>
          <p:cNvPr id="6" name="object 6"/>
          <p:cNvSpPr txBox="1"/>
          <p:nvPr/>
        </p:nvSpPr>
        <p:spPr>
          <a:xfrm>
            <a:off x="7452359" y="2216373"/>
            <a:ext cx="1234441" cy="995785"/>
          </a:xfrm>
          <a:prstGeom prst="rect">
            <a:avLst/>
          </a:prstGeom>
        </p:spPr>
        <p:txBody>
          <a:bodyPr vert="horz" wrap="square" lIns="0" tIns="99695" rIns="0" bIns="0" rtlCol="0">
            <a:spAutoFit/>
          </a:bodyPr>
          <a:lstStyle/>
          <a:p>
            <a:pPr marL="12700">
              <a:lnSpc>
                <a:spcPct val="100000"/>
              </a:lnSpc>
              <a:spcBef>
                <a:spcPts val="785"/>
              </a:spcBef>
            </a:pPr>
            <a:r>
              <a:rPr sz="1550">
                <a:latin typeface="Times New Roman"/>
                <a:cs typeface="Times New Roman"/>
              </a:rPr>
              <a:t>(</a:t>
            </a:r>
            <a:r>
              <a:rPr lang="en-US" sz="1550" spc="-20">
                <a:latin typeface="Times New Roman"/>
                <a:cs typeface="Times New Roman"/>
              </a:rPr>
              <a:t>22471A0572</a:t>
            </a:r>
            <a:r>
              <a:rPr sz="1550" spc="-20">
                <a:latin typeface="Times New Roman"/>
                <a:cs typeface="Times New Roman"/>
              </a:rPr>
              <a:t>)</a:t>
            </a:r>
            <a:endParaRPr sz="1550">
              <a:latin typeface="Times New Roman"/>
              <a:cs typeface="Times New Roman"/>
            </a:endParaRPr>
          </a:p>
          <a:p>
            <a:pPr marL="12700">
              <a:lnSpc>
                <a:spcPct val="100000"/>
              </a:lnSpc>
              <a:spcBef>
                <a:spcPts val="695"/>
              </a:spcBef>
            </a:pPr>
            <a:r>
              <a:rPr sz="1550">
                <a:latin typeface="Times New Roman"/>
                <a:cs typeface="Times New Roman"/>
              </a:rPr>
              <a:t>(</a:t>
            </a:r>
            <a:r>
              <a:rPr lang="en-US" sz="1550">
                <a:latin typeface="Times New Roman"/>
                <a:cs typeface="Times New Roman"/>
              </a:rPr>
              <a:t>22471A05A9</a:t>
            </a:r>
            <a:r>
              <a:rPr sz="1550" spc="-20">
                <a:latin typeface="Times New Roman"/>
                <a:cs typeface="Times New Roman"/>
              </a:rPr>
              <a:t>)</a:t>
            </a:r>
            <a:endParaRPr sz="1550">
              <a:latin typeface="Times New Roman"/>
              <a:cs typeface="Times New Roman"/>
            </a:endParaRPr>
          </a:p>
          <a:p>
            <a:pPr marL="12700">
              <a:lnSpc>
                <a:spcPct val="100000"/>
              </a:lnSpc>
              <a:spcBef>
                <a:spcPts val="695"/>
              </a:spcBef>
            </a:pPr>
            <a:r>
              <a:rPr sz="1550">
                <a:latin typeface="Times New Roman"/>
                <a:cs typeface="Times New Roman"/>
              </a:rPr>
              <a:t>(</a:t>
            </a:r>
            <a:r>
              <a:rPr lang="en-US" sz="1550">
                <a:latin typeface="Times New Roman"/>
                <a:cs typeface="Times New Roman"/>
              </a:rPr>
              <a:t>22471A05C6</a:t>
            </a:r>
            <a:r>
              <a:rPr sz="1550" spc="-20">
                <a:latin typeface="Times New Roman"/>
                <a:cs typeface="Times New Roman"/>
              </a:rPr>
              <a:t>)</a:t>
            </a:r>
            <a:endParaRPr sz="1550">
              <a:latin typeface="Times New Roman"/>
              <a:cs typeface="Times New Roman"/>
            </a:endParaRPr>
          </a:p>
        </p:txBody>
      </p:sp>
      <p:sp>
        <p:nvSpPr>
          <p:cNvPr id="7" name="object 7"/>
          <p:cNvSpPr txBox="1"/>
          <p:nvPr/>
        </p:nvSpPr>
        <p:spPr>
          <a:xfrm>
            <a:off x="4064634" y="3599878"/>
            <a:ext cx="4304665" cy="224980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006600"/>
                </a:solidFill>
                <a:latin typeface="Times New Roman"/>
                <a:cs typeface="Times New Roman"/>
              </a:rPr>
              <a:t>Under</a:t>
            </a:r>
            <a:r>
              <a:rPr sz="1800" spc="20" dirty="0">
                <a:solidFill>
                  <a:srgbClr val="006600"/>
                </a:solidFill>
                <a:latin typeface="Times New Roman"/>
                <a:cs typeface="Times New Roman"/>
              </a:rPr>
              <a:t> </a:t>
            </a:r>
            <a:r>
              <a:rPr sz="1800" dirty="0">
                <a:solidFill>
                  <a:srgbClr val="006600"/>
                </a:solidFill>
                <a:latin typeface="Times New Roman"/>
                <a:cs typeface="Times New Roman"/>
              </a:rPr>
              <a:t>the</a:t>
            </a:r>
            <a:r>
              <a:rPr sz="1800" spc="-30" dirty="0">
                <a:solidFill>
                  <a:srgbClr val="006600"/>
                </a:solidFill>
                <a:latin typeface="Times New Roman"/>
                <a:cs typeface="Times New Roman"/>
              </a:rPr>
              <a:t> </a:t>
            </a:r>
            <a:r>
              <a:rPr sz="1800" dirty="0">
                <a:solidFill>
                  <a:srgbClr val="006600"/>
                </a:solidFill>
                <a:latin typeface="Times New Roman"/>
                <a:cs typeface="Times New Roman"/>
              </a:rPr>
              <a:t>Guidance</a:t>
            </a:r>
            <a:r>
              <a:rPr sz="1800" spc="-25" dirty="0">
                <a:solidFill>
                  <a:srgbClr val="006600"/>
                </a:solidFill>
                <a:latin typeface="Times New Roman"/>
                <a:cs typeface="Times New Roman"/>
              </a:rPr>
              <a:t> of,</a:t>
            </a:r>
            <a:endParaRPr sz="1800" dirty="0">
              <a:latin typeface="Times New Roman"/>
              <a:cs typeface="Times New Roman"/>
            </a:endParaRPr>
          </a:p>
          <a:p>
            <a:pPr algn="ctr">
              <a:lnSpc>
                <a:spcPct val="100000"/>
              </a:lnSpc>
              <a:spcBef>
                <a:spcPts val="1770"/>
              </a:spcBef>
            </a:pPr>
            <a:r>
              <a:rPr lang="en-US" sz="1550" b="1" spc="90" dirty="0">
                <a:latin typeface="Times New Roman"/>
                <a:cs typeface="Times New Roman"/>
              </a:rPr>
              <a:t>SURESH MUNNANGI</a:t>
            </a:r>
            <a:r>
              <a:rPr lang="en-US" sz="1550" b="1" spc="-85" dirty="0">
                <a:latin typeface="Times New Roman"/>
                <a:cs typeface="Times New Roman"/>
              </a:rPr>
              <a:t> </a:t>
            </a:r>
            <a:r>
              <a:rPr lang="en-US" sz="1575" b="1" spc="-15" baseline="-15873" dirty="0" err="1">
                <a:latin typeface="Times New Roman"/>
                <a:cs typeface="Times New Roman"/>
              </a:rPr>
              <a:t>M.Tech</a:t>
            </a:r>
            <a:r>
              <a:rPr sz="1550" b="1" spc="-10" dirty="0">
                <a:latin typeface="Times New Roman"/>
                <a:cs typeface="Times New Roman"/>
              </a:rPr>
              <a:t>,</a:t>
            </a:r>
            <a:endParaRPr sz="1550" dirty="0">
              <a:latin typeface="Times New Roman"/>
              <a:cs typeface="Times New Roman"/>
            </a:endParaRPr>
          </a:p>
          <a:p>
            <a:pPr algn="ctr">
              <a:lnSpc>
                <a:spcPct val="100000"/>
              </a:lnSpc>
              <a:spcBef>
                <a:spcPts val="470"/>
              </a:spcBef>
            </a:pPr>
            <a:r>
              <a:rPr lang="en-IN" sz="1550" spc="-10" dirty="0">
                <a:solidFill>
                  <a:srgbClr val="888888"/>
                </a:solidFill>
                <a:latin typeface="Times New Roman"/>
                <a:cs typeface="Times New Roman"/>
              </a:rPr>
              <a:t>Assistant Professor</a:t>
            </a:r>
            <a:r>
              <a:rPr sz="1550" spc="-10" dirty="0">
                <a:solidFill>
                  <a:srgbClr val="888888"/>
                </a:solidFill>
                <a:latin typeface="Times New Roman"/>
                <a:cs typeface="Times New Roman"/>
              </a:rPr>
              <a:t>,</a:t>
            </a:r>
            <a:endParaRPr sz="1550" dirty="0">
              <a:latin typeface="Times New Roman"/>
              <a:cs typeface="Times New Roman"/>
            </a:endParaRPr>
          </a:p>
          <a:p>
            <a:pPr algn="ctr">
              <a:lnSpc>
                <a:spcPct val="100000"/>
              </a:lnSpc>
              <a:spcBef>
                <a:spcPts val="995"/>
              </a:spcBef>
            </a:pPr>
            <a:r>
              <a:rPr sz="1550" dirty="0">
                <a:solidFill>
                  <a:srgbClr val="888888"/>
                </a:solidFill>
                <a:latin typeface="Times New Roman"/>
                <a:cs typeface="Times New Roman"/>
              </a:rPr>
              <a:t>Department</a:t>
            </a:r>
            <a:r>
              <a:rPr sz="1550" spc="90" dirty="0">
                <a:solidFill>
                  <a:srgbClr val="888888"/>
                </a:solidFill>
                <a:latin typeface="Times New Roman"/>
                <a:cs typeface="Times New Roman"/>
              </a:rPr>
              <a:t> </a:t>
            </a:r>
            <a:r>
              <a:rPr sz="1550" dirty="0">
                <a:solidFill>
                  <a:srgbClr val="888888"/>
                </a:solidFill>
                <a:latin typeface="Times New Roman"/>
                <a:cs typeface="Times New Roman"/>
              </a:rPr>
              <a:t>of</a:t>
            </a:r>
            <a:r>
              <a:rPr sz="1550" spc="180" dirty="0">
                <a:solidFill>
                  <a:srgbClr val="888888"/>
                </a:solidFill>
                <a:latin typeface="Times New Roman"/>
                <a:cs typeface="Times New Roman"/>
              </a:rPr>
              <a:t> </a:t>
            </a:r>
            <a:r>
              <a:rPr sz="1550" dirty="0">
                <a:solidFill>
                  <a:srgbClr val="888888"/>
                </a:solidFill>
                <a:latin typeface="Times New Roman"/>
                <a:cs typeface="Times New Roman"/>
              </a:rPr>
              <a:t>Computer</a:t>
            </a:r>
            <a:r>
              <a:rPr sz="1550" spc="80" dirty="0">
                <a:solidFill>
                  <a:srgbClr val="888888"/>
                </a:solidFill>
                <a:latin typeface="Times New Roman"/>
                <a:cs typeface="Times New Roman"/>
              </a:rPr>
              <a:t> </a:t>
            </a:r>
            <a:r>
              <a:rPr sz="1550" dirty="0">
                <a:solidFill>
                  <a:srgbClr val="888888"/>
                </a:solidFill>
                <a:latin typeface="Times New Roman"/>
                <a:cs typeface="Times New Roman"/>
              </a:rPr>
              <a:t>Science</a:t>
            </a:r>
            <a:r>
              <a:rPr sz="1550" spc="145" dirty="0">
                <a:solidFill>
                  <a:srgbClr val="888888"/>
                </a:solidFill>
                <a:latin typeface="Times New Roman"/>
                <a:cs typeface="Times New Roman"/>
              </a:rPr>
              <a:t> </a:t>
            </a:r>
            <a:r>
              <a:rPr sz="1550" dirty="0">
                <a:solidFill>
                  <a:srgbClr val="888888"/>
                </a:solidFill>
                <a:latin typeface="Times New Roman"/>
                <a:cs typeface="Times New Roman"/>
              </a:rPr>
              <a:t>and</a:t>
            </a:r>
            <a:r>
              <a:rPr sz="1550" spc="135" dirty="0">
                <a:solidFill>
                  <a:srgbClr val="888888"/>
                </a:solidFill>
                <a:latin typeface="Times New Roman"/>
                <a:cs typeface="Times New Roman"/>
              </a:rPr>
              <a:t> </a:t>
            </a:r>
            <a:r>
              <a:rPr sz="1550" spc="-10" dirty="0">
                <a:solidFill>
                  <a:srgbClr val="888888"/>
                </a:solidFill>
                <a:latin typeface="Times New Roman"/>
                <a:cs typeface="Times New Roman"/>
              </a:rPr>
              <a:t>Engineering,</a:t>
            </a:r>
            <a:endParaRPr sz="1550" dirty="0">
              <a:latin typeface="Times New Roman"/>
              <a:cs typeface="Times New Roman"/>
            </a:endParaRPr>
          </a:p>
          <a:p>
            <a:pPr marL="57785" marR="61594" algn="ctr">
              <a:lnSpc>
                <a:spcPct val="173700"/>
              </a:lnSpc>
              <a:spcBef>
                <a:spcPts val="70"/>
              </a:spcBef>
            </a:pPr>
            <a:r>
              <a:rPr sz="1550" dirty="0">
                <a:solidFill>
                  <a:srgbClr val="888888"/>
                </a:solidFill>
                <a:latin typeface="Times New Roman"/>
                <a:cs typeface="Times New Roman"/>
              </a:rPr>
              <a:t>Narasaraopeta</a:t>
            </a:r>
            <a:r>
              <a:rPr sz="1550" spc="200" dirty="0">
                <a:solidFill>
                  <a:srgbClr val="888888"/>
                </a:solidFill>
                <a:latin typeface="Times New Roman"/>
                <a:cs typeface="Times New Roman"/>
              </a:rPr>
              <a:t> </a:t>
            </a:r>
            <a:r>
              <a:rPr sz="1550" dirty="0">
                <a:solidFill>
                  <a:srgbClr val="888888"/>
                </a:solidFill>
                <a:latin typeface="Times New Roman"/>
                <a:cs typeface="Times New Roman"/>
              </a:rPr>
              <a:t>Engineering</a:t>
            </a:r>
            <a:r>
              <a:rPr sz="1550" spc="185" dirty="0">
                <a:solidFill>
                  <a:srgbClr val="888888"/>
                </a:solidFill>
                <a:latin typeface="Times New Roman"/>
                <a:cs typeface="Times New Roman"/>
              </a:rPr>
              <a:t> </a:t>
            </a:r>
            <a:r>
              <a:rPr sz="1550" dirty="0">
                <a:solidFill>
                  <a:srgbClr val="888888"/>
                </a:solidFill>
                <a:latin typeface="Times New Roman"/>
                <a:cs typeface="Times New Roman"/>
              </a:rPr>
              <a:t>College</a:t>
            </a:r>
            <a:r>
              <a:rPr sz="1550" spc="204" dirty="0">
                <a:solidFill>
                  <a:srgbClr val="888888"/>
                </a:solidFill>
                <a:latin typeface="Times New Roman"/>
                <a:cs typeface="Times New Roman"/>
              </a:rPr>
              <a:t> </a:t>
            </a:r>
            <a:r>
              <a:rPr sz="1550" spc="-10" dirty="0">
                <a:solidFill>
                  <a:srgbClr val="888888"/>
                </a:solidFill>
                <a:latin typeface="Times New Roman"/>
                <a:cs typeface="Times New Roman"/>
              </a:rPr>
              <a:t>(Autonomous), </a:t>
            </a:r>
            <a:r>
              <a:rPr sz="1550" dirty="0">
                <a:solidFill>
                  <a:srgbClr val="888888"/>
                </a:solidFill>
                <a:latin typeface="Times New Roman"/>
                <a:cs typeface="Times New Roman"/>
              </a:rPr>
              <a:t>Narasaraopet-</a:t>
            </a:r>
            <a:r>
              <a:rPr sz="1550" spc="150" dirty="0">
                <a:solidFill>
                  <a:srgbClr val="888888"/>
                </a:solidFill>
                <a:latin typeface="Times New Roman"/>
                <a:cs typeface="Times New Roman"/>
              </a:rPr>
              <a:t> </a:t>
            </a:r>
            <a:r>
              <a:rPr sz="1550" dirty="0">
                <a:solidFill>
                  <a:srgbClr val="888888"/>
                </a:solidFill>
                <a:latin typeface="Times New Roman"/>
                <a:cs typeface="Times New Roman"/>
              </a:rPr>
              <a:t>522</a:t>
            </a:r>
            <a:r>
              <a:rPr sz="1550" spc="150" dirty="0">
                <a:solidFill>
                  <a:srgbClr val="888888"/>
                </a:solidFill>
                <a:latin typeface="Times New Roman"/>
                <a:cs typeface="Times New Roman"/>
              </a:rPr>
              <a:t> </a:t>
            </a:r>
            <a:r>
              <a:rPr sz="1550" spc="-20" dirty="0">
                <a:solidFill>
                  <a:srgbClr val="888888"/>
                </a:solidFill>
                <a:latin typeface="Times New Roman"/>
                <a:cs typeface="Times New Roman"/>
              </a:rPr>
              <a:t>601.</a:t>
            </a:r>
            <a:endParaRPr sz="1550" dirty="0">
              <a:latin typeface="Times New Roman"/>
              <a:cs typeface="Times New Roman"/>
            </a:endParaRPr>
          </a:p>
        </p:txBody>
      </p:sp>
      <p:pic>
        <p:nvPicPr>
          <p:cNvPr id="8" name="object 8"/>
          <p:cNvPicPr/>
          <p:nvPr/>
        </p:nvPicPr>
        <p:blipFill>
          <a:blip r:embed="rId2" cstate="print"/>
          <a:stretch>
            <a:fillRect/>
          </a:stretch>
        </p:blipFill>
        <p:spPr>
          <a:xfrm>
            <a:off x="66675" y="131344"/>
            <a:ext cx="3648074" cy="505326"/>
          </a:xfrm>
          <a:prstGeom prst="rect">
            <a:avLst/>
          </a:prstGeom>
        </p:spPr>
      </p:pic>
      <p:sp>
        <p:nvSpPr>
          <p:cNvPr id="9" name="object 9"/>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US" spc="-10"/>
              <a:t>11</a:t>
            </a:r>
            <a:r>
              <a:rPr spc="-10"/>
              <a:t>-1</a:t>
            </a:r>
            <a:r>
              <a:rPr lang="en-US" spc="-10"/>
              <a:t>1</a:t>
            </a:r>
            <a:r>
              <a:rPr spc="-10"/>
              <a:t>-</a:t>
            </a:r>
            <a:r>
              <a:rPr spc="-20"/>
              <a:t>202</a:t>
            </a:r>
            <a:r>
              <a:rPr lang="en-US" spc="-20"/>
              <a:t>5</a:t>
            </a:r>
            <a:endParaRPr spc="-20" dirty="0"/>
          </a:p>
        </p:txBody>
      </p:sp>
      <p:sp>
        <p:nvSpPr>
          <p:cNvPr id="10" name="object 10"/>
          <p:cNvSpPr txBox="1"/>
          <p:nvPr/>
        </p:nvSpPr>
        <p:spPr>
          <a:xfrm>
            <a:off x="4191000" y="6451049"/>
            <a:ext cx="997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11" name="object 11"/>
          <p:cNvSpPr txBox="1">
            <a:spLocks noGrp="1"/>
          </p:cNvSpPr>
          <p:nvPr>
            <p:ph type="ftr" sz="quarter" idx="5"/>
          </p:nvPr>
        </p:nvSpPr>
        <p:spPr>
          <a:xfrm>
            <a:off x="5334000" y="6451049"/>
            <a:ext cx="1008062" cy="179536"/>
          </a:xfrm>
          <a:prstGeom prst="rect">
            <a:avLst/>
          </a:prstGeom>
        </p:spPr>
        <p:txBody>
          <a:bodyPr vert="horz" wrap="square" lIns="0" tIns="0" rIns="0" bIns="0" rtlCol="0">
            <a:spAutoFit/>
          </a:bodyPr>
          <a:lstStyle/>
          <a:p>
            <a:pPr marL="12700">
              <a:lnSpc>
                <a:spcPts val="1410"/>
              </a:lnSpc>
            </a:pPr>
            <a:r>
              <a:rPr lang="en-IN" dirty="0"/>
              <a:t>Batch No.BG6</a:t>
            </a:r>
            <a:r>
              <a:rPr lang="en-US" spc="-25" dirty="0"/>
              <a:t> </a:t>
            </a:r>
            <a:endParaRPr spc="-25" dirty="0"/>
          </a:p>
        </p:txBody>
      </p:sp>
      <p:sp>
        <p:nvSpPr>
          <p:cNvPr id="12" name="object 12"/>
          <p:cNvSpPr txBox="1"/>
          <p:nvPr/>
        </p:nvSpPr>
        <p:spPr>
          <a:xfrm>
            <a:off x="6542944" y="6451049"/>
            <a:ext cx="1686656" cy="179536"/>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9255" y="529843"/>
            <a:ext cx="2613025" cy="701040"/>
          </a:xfrm>
          <a:prstGeom prst="rect">
            <a:avLst/>
          </a:prstGeom>
        </p:spPr>
        <p:txBody>
          <a:bodyPr vert="horz" wrap="square" lIns="0" tIns="16510" rIns="0" bIns="0" rtlCol="0">
            <a:spAutoFit/>
          </a:bodyPr>
          <a:lstStyle/>
          <a:p>
            <a:pPr marL="12700">
              <a:lnSpc>
                <a:spcPct val="100000"/>
              </a:lnSpc>
              <a:spcBef>
                <a:spcPts val="130"/>
              </a:spcBef>
            </a:pPr>
            <a:r>
              <a:rPr spc="-10" dirty="0"/>
              <a:t>OUTLINE</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053919" y="6451049"/>
            <a:ext cx="997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a:t>
            </a:r>
            <a:r>
              <a:rPr lang="en-IN" sz="1200" spc="-25" dirty="0">
                <a:solidFill>
                  <a:srgbClr val="888888"/>
                </a:solidFill>
                <a:latin typeface="Times New Roman"/>
                <a:cs typeface="Times New Roman"/>
              </a:rPr>
              <a:t> 1</a:t>
            </a:r>
            <a:endParaRPr sz="1200" dirty="0">
              <a:latin typeface="Times New Roman"/>
              <a:cs typeface="Times New Roman"/>
            </a:endParaRPr>
          </a:p>
        </p:txBody>
      </p:sp>
      <p:sp>
        <p:nvSpPr>
          <p:cNvPr id="6" name="object 6"/>
          <p:cNvSpPr txBox="1">
            <a:spLocks noGrp="1"/>
          </p:cNvSpPr>
          <p:nvPr>
            <p:ph type="ftr" sz="quarter" idx="5"/>
          </p:nvPr>
        </p:nvSpPr>
        <p:spPr>
          <a:xfrm>
            <a:off x="5412438" y="6451049"/>
            <a:ext cx="912162" cy="179536"/>
          </a:xfrm>
          <a:prstGeom prst="rect">
            <a:avLst/>
          </a:prstGeom>
        </p:spPr>
        <p:txBody>
          <a:bodyPr vert="horz" wrap="square" lIns="0" tIns="0" rIns="0" bIns="0" rtlCol="0">
            <a:spAutoFit/>
          </a:bodyPr>
          <a:lstStyle/>
          <a:p>
            <a:pPr marL="12700">
              <a:lnSpc>
                <a:spcPts val="1410"/>
              </a:lnSpc>
            </a:pPr>
            <a:r>
              <a:rPr lang="en-IN" dirty="0"/>
              <a:t>Batch No.</a:t>
            </a:r>
            <a:r>
              <a:rPr lang="en-IN" spc="-25" dirty="0"/>
              <a:t>BG6</a:t>
            </a:r>
            <a:endParaRPr spc="-25" dirty="0"/>
          </a:p>
        </p:txBody>
      </p:sp>
      <p:sp>
        <p:nvSpPr>
          <p:cNvPr id="7" name="object 7"/>
          <p:cNvSpPr txBox="1"/>
          <p:nvPr/>
        </p:nvSpPr>
        <p:spPr>
          <a:xfrm>
            <a:off x="6758844" y="6451049"/>
            <a:ext cx="1610456" cy="179536"/>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3" name="object 3"/>
          <p:cNvSpPr txBox="1"/>
          <p:nvPr/>
        </p:nvSpPr>
        <p:spPr>
          <a:xfrm>
            <a:off x="917575" y="1173924"/>
            <a:ext cx="3450590" cy="4530727"/>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1800" spc="-10" dirty="0">
                <a:latin typeface="Times New Roman"/>
                <a:cs typeface="Times New Roman"/>
              </a:rPr>
              <a:t>Abstract</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Introduction</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Literature</a:t>
            </a:r>
            <a:r>
              <a:rPr sz="1800" spc="-10" dirty="0">
                <a:latin typeface="Times New Roman"/>
                <a:cs typeface="Times New Roman"/>
              </a:rPr>
              <a:t> Survey</a:t>
            </a:r>
            <a:endParaRPr sz="1800" dirty="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Research</a:t>
            </a:r>
            <a:r>
              <a:rPr sz="1800" spc="-40" dirty="0">
                <a:latin typeface="Times New Roman"/>
                <a:cs typeface="Times New Roman"/>
              </a:rPr>
              <a:t> </a:t>
            </a:r>
            <a:r>
              <a:rPr sz="1800" spc="-20" dirty="0">
                <a:latin typeface="Times New Roman"/>
                <a:cs typeface="Times New Roman"/>
              </a:rPr>
              <a:t>Gaps</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Problem</a:t>
            </a:r>
            <a:r>
              <a:rPr sz="1800" spc="-50" dirty="0">
                <a:latin typeface="Times New Roman"/>
                <a:cs typeface="Times New Roman"/>
              </a:rPr>
              <a:t> </a:t>
            </a:r>
            <a:r>
              <a:rPr sz="1800" spc="-10" dirty="0">
                <a:latin typeface="Times New Roman"/>
                <a:cs typeface="Times New Roman"/>
              </a:rPr>
              <a:t>Statement</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Objectives</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Block</a:t>
            </a:r>
            <a:r>
              <a:rPr sz="1800" spc="-10" dirty="0">
                <a:latin typeface="Times New Roman"/>
                <a:cs typeface="Times New Roman"/>
              </a:rPr>
              <a:t> </a:t>
            </a:r>
            <a:r>
              <a:rPr sz="1800" dirty="0">
                <a:latin typeface="Times New Roman"/>
                <a:cs typeface="Times New Roman"/>
              </a:rPr>
              <a:t>Diagram</a:t>
            </a:r>
            <a:r>
              <a:rPr sz="1800" spc="-5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Flow</a:t>
            </a:r>
            <a:r>
              <a:rPr sz="1800" spc="-30" dirty="0">
                <a:latin typeface="Times New Roman"/>
                <a:cs typeface="Times New Roman"/>
              </a:rPr>
              <a:t> </a:t>
            </a:r>
            <a:r>
              <a:rPr sz="1800" spc="-10" dirty="0">
                <a:latin typeface="Times New Roman"/>
                <a:cs typeface="Times New Roman"/>
              </a:rPr>
              <a:t>Diagram</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Methodology</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spc="-10" dirty="0">
                <a:latin typeface="Times New Roman"/>
                <a:cs typeface="Times New Roman"/>
              </a:rPr>
              <a:t>Implementation</a:t>
            </a:r>
            <a:endParaRPr sz="1800" dirty="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Results</a:t>
            </a:r>
            <a:r>
              <a:rPr sz="1800" spc="10" dirty="0">
                <a:latin typeface="Times New Roman"/>
                <a:cs typeface="Times New Roman"/>
              </a:rPr>
              <a:t> </a:t>
            </a:r>
            <a:r>
              <a:rPr sz="1800" spc="-20" dirty="0">
                <a:latin typeface="Times New Roman"/>
                <a:cs typeface="Times New Roman"/>
              </a:rPr>
              <a:t>and</a:t>
            </a:r>
            <a:r>
              <a:rPr sz="1800" spc="-90" dirty="0">
                <a:latin typeface="Times New Roman"/>
                <a:cs typeface="Times New Roman"/>
              </a:rPr>
              <a:t> </a:t>
            </a:r>
            <a:r>
              <a:rPr sz="1800" spc="-10" dirty="0">
                <a:latin typeface="Times New Roman"/>
                <a:cs typeface="Times New Roman"/>
              </a:rPr>
              <a:t>Analysis</a:t>
            </a:r>
            <a:endParaRPr sz="1800" dirty="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Conclusion</a:t>
            </a:r>
            <a:r>
              <a:rPr sz="1800" spc="-20" dirty="0">
                <a:latin typeface="Times New Roman"/>
                <a:cs typeface="Times New Roman"/>
              </a:rPr>
              <a:t> </a:t>
            </a:r>
            <a:r>
              <a:rPr sz="1800" dirty="0">
                <a:latin typeface="Times New Roman"/>
                <a:cs typeface="Times New Roman"/>
              </a:rPr>
              <a:t>&amp;</a:t>
            </a:r>
            <a:r>
              <a:rPr sz="1800" spc="-5" dirty="0">
                <a:latin typeface="Times New Roman"/>
                <a:cs typeface="Times New Roman"/>
              </a:rPr>
              <a:t> </a:t>
            </a:r>
            <a:r>
              <a:rPr sz="1800" dirty="0">
                <a:latin typeface="Times New Roman"/>
                <a:cs typeface="Times New Roman"/>
              </a:rPr>
              <a:t>Future </a:t>
            </a:r>
            <a:r>
              <a:rPr sz="1800" spc="-20" dirty="0">
                <a:latin typeface="Times New Roman"/>
                <a:cs typeface="Times New Roman"/>
              </a:rPr>
              <a:t>Scope</a:t>
            </a:r>
            <a:endParaRPr sz="1800" dirty="0">
              <a:latin typeface="Times New Roman"/>
              <a:cs typeface="Times New Roman"/>
            </a:endParaRPr>
          </a:p>
          <a:p>
            <a:pPr marL="527050" indent="-514350">
              <a:lnSpc>
                <a:spcPct val="100000"/>
              </a:lnSpc>
              <a:spcBef>
                <a:spcPts val="400"/>
              </a:spcBef>
              <a:buAutoNum type="arabicPeriod"/>
              <a:tabLst>
                <a:tab pos="527050" algn="l"/>
              </a:tabLst>
            </a:pPr>
            <a:r>
              <a:rPr sz="1800" spc="-10" dirty="0">
                <a:latin typeface="Times New Roman"/>
                <a:cs typeface="Times New Roman"/>
              </a:rPr>
              <a:t>References</a:t>
            </a:r>
            <a:endParaRPr lang="en-IN" sz="1800" spc="-10" dirty="0">
              <a:latin typeface="Times New Roman"/>
              <a:cs typeface="Times New Roman"/>
            </a:endParaRPr>
          </a:p>
          <a:p>
            <a:pPr marL="527050" indent="-514350">
              <a:spcBef>
                <a:spcPts val="400"/>
              </a:spcBef>
              <a:buFontTx/>
              <a:buAutoNum type="arabicPeriod"/>
              <a:tabLst>
                <a:tab pos="527050" algn="l"/>
              </a:tabLst>
            </a:pPr>
            <a:r>
              <a:rPr lang="en-IN" sz="1800" spc="-10" dirty="0">
                <a:latin typeface="Times New Roman"/>
                <a:cs typeface="Times New Roman"/>
              </a:rPr>
              <a:t>Acknowledgements</a:t>
            </a:r>
            <a:endParaRPr sz="1800" dirty="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Question </a:t>
            </a:r>
            <a:r>
              <a:rPr sz="1800" spc="-20" dirty="0">
                <a:latin typeface="Times New Roman"/>
                <a:cs typeface="Times New Roman"/>
              </a:rPr>
              <a:t>and</a:t>
            </a:r>
            <a:r>
              <a:rPr sz="1800" spc="-75" dirty="0">
                <a:latin typeface="Times New Roman"/>
                <a:cs typeface="Times New Roman"/>
              </a:rPr>
              <a:t> </a:t>
            </a:r>
            <a:r>
              <a:rPr sz="1800" spc="-10" dirty="0">
                <a:latin typeface="Times New Roman"/>
                <a:cs typeface="Times New Roman"/>
              </a:rPr>
              <a:t>Answers</a:t>
            </a:r>
            <a:endParaRPr sz="1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703320">
              <a:lnSpc>
                <a:spcPct val="100000"/>
              </a:lnSpc>
              <a:spcBef>
                <a:spcPts val="130"/>
              </a:spcBef>
            </a:pPr>
            <a:r>
              <a:rPr spc="-10" dirty="0"/>
              <a:t>ABSTRACT</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3962400" y="6451049"/>
            <a:ext cx="942119"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112606" y="6451049"/>
            <a:ext cx="1135794" cy="179536"/>
          </a:xfrm>
          <a:prstGeom prst="rect">
            <a:avLst/>
          </a:prstGeom>
        </p:spPr>
        <p:txBody>
          <a:bodyPr vert="horz" wrap="square" lIns="0" tIns="0" rIns="0" bIns="0" rtlCol="0">
            <a:spAutoFit/>
          </a:bodyPr>
          <a:lstStyle/>
          <a:p>
            <a:pPr marL="12700">
              <a:lnSpc>
                <a:spcPts val="1410"/>
              </a:lnSpc>
            </a:pPr>
            <a:r>
              <a:rPr lang="en-IN" dirty="0"/>
              <a:t>Batch No.</a:t>
            </a:r>
            <a:r>
              <a:rPr lang="en-IN" spc="-25" dirty="0"/>
              <a:t>BG6</a:t>
            </a:r>
            <a:r>
              <a:rPr spc="-25" dirty="0"/>
              <a:t>.</a:t>
            </a:r>
          </a:p>
        </p:txBody>
      </p:sp>
      <p:sp>
        <p:nvSpPr>
          <p:cNvPr id="7" name="object 7"/>
          <p:cNvSpPr txBox="1"/>
          <p:nvPr/>
        </p:nvSpPr>
        <p:spPr>
          <a:xfrm>
            <a:off x="6625590" y="6435090"/>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3" name="object 3"/>
          <p:cNvSpPr txBox="1"/>
          <p:nvPr/>
        </p:nvSpPr>
        <p:spPr>
          <a:xfrm>
            <a:off x="1109725" y="1389339"/>
            <a:ext cx="10210801" cy="4079322"/>
          </a:xfrm>
          <a:prstGeom prst="rect">
            <a:avLst/>
          </a:prstGeom>
        </p:spPr>
        <p:txBody>
          <a:bodyPr vert="horz" wrap="square" lIns="0" tIns="16510" rIns="0" bIns="0" rtlCol="0">
            <a:spAutoFit/>
          </a:bodyPr>
          <a:lstStyle/>
          <a:p>
            <a:pPr marL="12700" algn="just">
              <a:lnSpc>
                <a:spcPct val="100000"/>
              </a:lnSpc>
              <a:spcBef>
                <a:spcPts val="130"/>
              </a:spcBef>
              <a:tabLst>
                <a:tab pos="241300" algn="l"/>
              </a:tabLst>
            </a:pPr>
            <a:r>
              <a:rPr lang="en-US" sz="2400" dirty="0">
                <a:latin typeface="Times New Roman" panose="02020603050405020304" pitchFamily="18" charset="0"/>
                <a:cs typeface="Times New Roman" panose="02020603050405020304" pitchFamily="18" charset="0"/>
              </a:rPr>
              <a:t>To understand complicated scenes in pictures, you often have to do a lot of things at once, like </a:t>
            </a:r>
            <a:r>
              <a:rPr lang="en-US" sz="2400" dirty="0" err="1">
                <a:latin typeface="Times New Roman" panose="02020603050405020304" pitchFamily="18" charset="0"/>
                <a:cs typeface="Times New Roman" panose="02020603050405020304" pitchFamily="18" charset="0"/>
              </a:rPr>
              <a:t>recognising</a:t>
            </a:r>
            <a:r>
              <a:rPr lang="en-US" sz="2400" dirty="0">
                <a:latin typeface="Times New Roman" panose="02020603050405020304" pitchFamily="18" charset="0"/>
                <a:cs typeface="Times New Roman" panose="02020603050405020304" pitchFamily="18" charset="0"/>
              </a:rPr>
              <a:t> objects, guessing how far away they are, finding edges, and figuring out which way the surface is going. It is very hard to do all of this correctly with just one model in computer </a:t>
            </a:r>
            <a:r>
              <a:rPr lang="en-US" sz="2400" dirty="0" err="1">
                <a:latin typeface="Times New Roman" panose="02020603050405020304" pitchFamily="18" charset="0"/>
                <a:cs typeface="Times New Roman" panose="02020603050405020304" pitchFamily="18" charset="0"/>
              </a:rPr>
              <a:t>vision.We</a:t>
            </a:r>
            <a:r>
              <a:rPr lang="en-US" sz="2400" dirty="0">
                <a:latin typeface="Times New Roman" panose="02020603050405020304" pitchFamily="18" charset="0"/>
                <a:cs typeface="Times New Roman" panose="02020603050405020304" pitchFamily="18" charset="0"/>
              </a:rPr>
              <a:t> made a model for this project called </a:t>
            </a:r>
            <a:r>
              <a:rPr lang="en-US" sz="2400" b="1" dirty="0" err="1">
                <a:latin typeface="Times New Roman" panose="02020603050405020304" pitchFamily="18" charset="0"/>
                <a:cs typeface="Times New Roman" panose="02020603050405020304" pitchFamily="18" charset="0"/>
              </a:rPr>
              <a:t>DeMT</a:t>
            </a:r>
            <a:r>
              <a:rPr lang="en-US" sz="2400" b="1" dirty="0">
                <a:latin typeface="Times New Roman" panose="02020603050405020304" pitchFamily="18" charset="0"/>
                <a:cs typeface="Times New Roman" panose="02020603050405020304" pitchFamily="18" charset="0"/>
              </a:rPr>
              <a:t> (Deformable Mixer Transformer) </a:t>
            </a:r>
            <a:r>
              <a:rPr lang="en-US" sz="2400" dirty="0">
                <a:latin typeface="Times New Roman" panose="02020603050405020304" pitchFamily="18" charset="0"/>
                <a:cs typeface="Times New Roman" panose="02020603050405020304" pitchFamily="18" charset="0"/>
              </a:rPr>
              <a:t>that can do all of these things in one framework. It uses the best parts of deformable convolutions, which pick up on small details, and transformers, which help the model understand the big picture of the whole </a:t>
            </a:r>
            <a:r>
              <a:rPr lang="en-US" sz="2400" dirty="0" err="1">
                <a:latin typeface="Times New Roman" panose="02020603050405020304" pitchFamily="18" charset="0"/>
                <a:cs typeface="Times New Roman" panose="02020603050405020304" pitchFamily="18" charset="0"/>
              </a:rPr>
              <a:t>image.We</a:t>
            </a:r>
            <a:r>
              <a:rPr lang="en-US" sz="2400" dirty="0">
                <a:latin typeface="Times New Roman" panose="02020603050405020304" pitchFamily="18" charset="0"/>
                <a:cs typeface="Times New Roman" panose="02020603050405020304" pitchFamily="18" charset="0"/>
              </a:rPr>
              <a:t> trained and tested this model on the </a:t>
            </a:r>
            <a:r>
              <a:rPr lang="en-US" sz="2400" b="1" dirty="0">
                <a:latin typeface="Times New Roman" panose="02020603050405020304" pitchFamily="18" charset="0"/>
                <a:cs typeface="Times New Roman" panose="02020603050405020304" pitchFamily="18" charset="0"/>
              </a:rPr>
              <a:t>NYUD-v2 dataset, </a:t>
            </a:r>
            <a:r>
              <a:rPr lang="en-US" sz="2400" dirty="0">
                <a:latin typeface="Times New Roman" panose="02020603050405020304" pitchFamily="18" charset="0"/>
                <a:cs typeface="Times New Roman" panose="02020603050405020304" pitchFamily="18" charset="0"/>
              </a:rPr>
              <a:t>and it got an amazing </a:t>
            </a:r>
            <a:r>
              <a:rPr lang="en-US" sz="2400" b="1" dirty="0">
                <a:latin typeface="Times New Roman" panose="02020603050405020304" pitchFamily="18" charset="0"/>
                <a:cs typeface="Times New Roman" panose="02020603050405020304" pitchFamily="18" charset="0"/>
              </a:rPr>
              <a:t>99% accuracy </a:t>
            </a:r>
            <a:r>
              <a:rPr lang="en-US" sz="2400" dirty="0">
                <a:latin typeface="Times New Roman" panose="02020603050405020304" pitchFamily="18" charset="0"/>
                <a:cs typeface="Times New Roman" panose="02020603050405020304" pitchFamily="18" charset="0"/>
              </a:rPr>
              <a:t>on all tasks, which is much better than many other models that are already out there. </a:t>
            </a:r>
            <a:r>
              <a:rPr lang="en-US" sz="2400" dirty="0" err="1">
                <a:latin typeface="Times New Roman" panose="02020603050405020304" pitchFamily="18" charset="0"/>
                <a:cs typeface="Times New Roman" panose="02020603050405020304" pitchFamily="18" charset="0"/>
              </a:rPr>
              <a:t>DeMT</a:t>
            </a:r>
            <a:r>
              <a:rPr lang="en-US" sz="2400" dirty="0">
                <a:latin typeface="Times New Roman" panose="02020603050405020304" pitchFamily="18" charset="0"/>
                <a:cs typeface="Times New Roman" panose="02020603050405020304" pitchFamily="18" charset="0"/>
              </a:rPr>
              <a:t> is not only very accurate, but it is also very efficient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463" y="283463"/>
            <a:ext cx="10101072" cy="1373452"/>
          </a:xfrm>
          <a:prstGeom prst="rect">
            <a:avLst/>
          </a:prstGeom>
        </p:spPr>
        <p:txBody>
          <a:bodyPr vert="horz" wrap="square" lIns="0" tIns="262889" rIns="0" bIns="0" rtlCol="0">
            <a:spAutoFit/>
          </a:bodyPr>
          <a:lstStyle/>
          <a:p>
            <a:pPr marL="2989580" algn="l">
              <a:spcBef>
                <a:spcPts val="130"/>
              </a:spcBef>
            </a:pPr>
            <a:r>
              <a:rPr spc="-10"/>
              <a:t>INTRODUCTION</a:t>
            </a:r>
            <a:br>
              <a:rPr lang="en-US" sz="2800" spc="-10"/>
            </a:br>
            <a:endParaRPr sz="2800" spc="-10"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3810000" y="6443662"/>
            <a:ext cx="911225"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 1</a:t>
            </a:r>
            <a:r>
              <a:rPr sz="1200" spc="-25" dirty="0">
                <a:solidFill>
                  <a:srgbClr val="888888"/>
                </a:solidFill>
                <a:latin typeface="Times New Roman"/>
                <a:cs typeface="Times New Roman"/>
              </a:rPr>
              <a:t>.</a:t>
            </a:r>
            <a:endParaRPr sz="1200" dirty="0">
              <a:latin typeface="Times New Roman"/>
              <a:cs typeface="Times New Roman"/>
            </a:endParaRPr>
          </a:p>
        </p:txBody>
      </p:sp>
      <p:sp>
        <p:nvSpPr>
          <p:cNvPr id="6" name="object 6"/>
          <p:cNvSpPr txBox="1">
            <a:spLocks noGrp="1"/>
          </p:cNvSpPr>
          <p:nvPr>
            <p:ph type="ftr" sz="quarter" idx="5"/>
          </p:nvPr>
        </p:nvSpPr>
        <p:spPr>
          <a:xfrm>
            <a:off x="5126920" y="6443662"/>
            <a:ext cx="1044273" cy="179536"/>
          </a:xfrm>
          <a:prstGeom prst="rect">
            <a:avLst/>
          </a:prstGeom>
        </p:spPr>
        <p:txBody>
          <a:bodyPr vert="horz" wrap="square" lIns="0" tIns="0" rIns="0" bIns="0" rtlCol="0">
            <a:spAutoFit/>
          </a:bodyPr>
          <a:lstStyle/>
          <a:p>
            <a:pPr marL="12700">
              <a:lnSpc>
                <a:spcPts val="1410"/>
              </a:lnSpc>
            </a:pPr>
            <a:r>
              <a:rPr lang="en-IN" dirty="0"/>
              <a:t>Batch No.</a:t>
            </a:r>
            <a:r>
              <a:rPr lang="en-IN" spc="-25" dirty="0"/>
              <a:t>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sp>
        <p:nvSpPr>
          <p:cNvPr id="12" name="TextBox 11"/>
          <p:cNvSpPr txBox="1"/>
          <p:nvPr/>
        </p:nvSpPr>
        <p:spPr>
          <a:xfrm>
            <a:off x="1387230" y="1828800"/>
            <a:ext cx="9567926" cy="2759730"/>
          </a:xfrm>
          <a:prstGeom prst="rect">
            <a:avLst/>
          </a:prstGeom>
          <a:noFill/>
        </p:spPr>
        <p:txBody>
          <a:bodyPr wrap="square" rtlCol="0">
            <a:spAutoFit/>
          </a:bodyPr>
          <a:lstStyle/>
          <a:p>
            <a:pPr marL="469900" indent="-457200" algn="just">
              <a:lnSpc>
                <a:spcPct val="100000"/>
              </a:lnSpc>
              <a:spcBef>
                <a:spcPts val="780"/>
              </a:spcBef>
              <a:buFont typeface="Wingdings" panose="05000000000000000000" pitchFamily="2" charset="2"/>
              <a:buChar char="Ø"/>
              <a:tabLst>
                <a:tab pos="241300" algn="l"/>
              </a:tabLst>
            </a:pPr>
            <a:r>
              <a:rPr lang="en-US" sz="2000" dirty="0"/>
              <a:t>The project titled </a:t>
            </a:r>
            <a:r>
              <a:rPr lang="en-US" sz="2000" b="1" dirty="0"/>
              <a:t>“</a:t>
            </a:r>
            <a:r>
              <a:rPr lang="en-US" sz="2000" b="1" dirty="0" err="1"/>
              <a:t>DeMT</a:t>
            </a:r>
            <a:r>
              <a:rPr lang="en-US" sz="2000" b="1" dirty="0"/>
              <a:t> – Deformable Mixer Transformer”</a:t>
            </a:r>
            <a:r>
              <a:rPr lang="en-US" sz="2000" dirty="0"/>
              <a:t> focuses on developing a </a:t>
            </a:r>
            <a:r>
              <a:rPr lang="en-US" sz="2000" b="1" dirty="0"/>
              <a:t>hybrid deep learning model</a:t>
            </a:r>
            <a:r>
              <a:rPr lang="en-US" sz="2000" dirty="0"/>
              <a:t> that performs multiple dense prediction tasks such as semantic segmentation, depth estimation, surface normal prediction, and boundary detection simultaneously.</a:t>
            </a:r>
          </a:p>
          <a:p>
            <a:pPr marL="12700" algn="just">
              <a:lnSpc>
                <a:spcPct val="100000"/>
              </a:lnSpc>
              <a:spcBef>
                <a:spcPts val="780"/>
              </a:spcBef>
              <a:tabLst>
                <a:tab pos="241300" algn="l"/>
              </a:tabLst>
            </a:pPr>
            <a:endParaRPr lang="en-US" sz="2000" dirty="0"/>
          </a:p>
          <a:p>
            <a:pPr marL="469900" indent="-457200" algn="just">
              <a:lnSpc>
                <a:spcPct val="100000"/>
              </a:lnSpc>
              <a:spcBef>
                <a:spcPts val="780"/>
              </a:spcBef>
              <a:buFont typeface="Wingdings" panose="05000000000000000000" pitchFamily="2" charset="2"/>
              <a:buChar char="Ø"/>
              <a:tabLst>
                <a:tab pos="241300" algn="l"/>
              </a:tabLst>
            </a:pPr>
            <a:r>
              <a:rPr lang="en-US" sz="2000" dirty="0"/>
              <a:t>It leverages the strengths of </a:t>
            </a:r>
            <a:r>
              <a:rPr lang="en-US" sz="2000" b="1" dirty="0"/>
              <a:t>Deformable Convolutional Networks (DCN)</a:t>
            </a:r>
            <a:r>
              <a:rPr lang="en-US" sz="2000" dirty="0"/>
              <a:t> for capturing fine local structures and </a:t>
            </a:r>
            <a:r>
              <a:rPr lang="en-US" sz="2000" b="1" dirty="0"/>
              <a:t>Transformer attention mechanisms</a:t>
            </a:r>
            <a:r>
              <a:rPr lang="en-US" sz="2000" dirty="0"/>
              <a:t> for understanding global context within images.</a:t>
            </a:r>
            <a:endParaRPr lang="en-US" sz="2000" spc="-1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6" name="object 6"/>
          <p:cNvSpPr txBox="1">
            <a:spLocks noGrp="1"/>
          </p:cNvSpPr>
          <p:nvPr>
            <p:ph type="ftr" sz="quarter" idx="5"/>
          </p:nvPr>
        </p:nvSpPr>
        <p:spPr>
          <a:xfrm>
            <a:off x="5334000" y="6451049"/>
            <a:ext cx="106680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5</a:t>
            </a:fld>
            <a:endParaRPr spc="-25"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17" name="TextBox 16"/>
          <p:cNvSpPr txBox="1"/>
          <p:nvPr/>
        </p:nvSpPr>
        <p:spPr>
          <a:xfrm>
            <a:off x="1371600" y="1730872"/>
            <a:ext cx="9733026" cy="2862322"/>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Traditional vision systems rely on separate models for each task, increasing computational cost and training complexity.</a:t>
            </a:r>
          </a:p>
          <a:p>
            <a:pPr algn="just"/>
            <a:endParaRPr lang="en-US" sz="2000" dirty="0"/>
          </a:p>
          <a:p>
            <a:pPr marL="285750" indent="-285750" algn="just">
              <a:buFont typeface="Wingdings" panose="05000000000000000000" pitchFamily="2" charset="2"/>
              <a:buChar char="Ø"/>
            </a:pPr>
            <a:r>
              <a:rPr lang="en-US" sz="2000" dirty="0"/>
              <a:t>There was a need for a </a:t>
            </a:r>
            <a:r>
              <a:rPr lang="en-US" sz="2000" b="1" dirty="0"/>
              <a:t>unified framework</a:t>
            </a:r>
            <a:r>
              <a:rPr lang="en-US" sz="2000" dirty="0"/>
              <a:t> capable of learning </a:t>
            </a:r>
            <a:r>
              <a:rPr lang="en-US" sz="2000" b="1" dirty="0"/>
              <a:t>shared representations</a:t>
            </a:r>
            <a:r>
              <a:rPr lang="en-US" sz="2000" dirty="0"/>
              <a:t> while maintaining accuracy across tasks.</a:t>
            </a:r>
          </a:p>
          <a:p>
            <a:pPr algn="just"/>
            <a:endParaRPr lang="en-US" sz="2000" dirty="0"/>
          </a:p>
          <a:p>
            <a:pPr marL="285750" indent="-285750" algn="just">
              <a:buFont typeface="Wingdings" panose="05000000000000000000" pitchFamily="2" charset="2"/>
              <a:buChar char="Ø"/>
            </a:pPr>
            <a:r>
              <a:rPr lang="en-US" sz="2000" dirty="0"/>
              <a:t>The motivation was to design an </a:t>
            </a:r>
            <a:r>
              <a:rPr lang="en-US" sz="2000" b="1" dirty="0"/>
              <a:t>efficient and adaptable model</a:t>
            </a:r>
            <a:r>
              <a:rPr lang="en-US" sz="2000" dirty="0"/>
              <a:t> suitable for </a:t>
            </a:r>
            <a:r>
              <a:rPr lang="en-US" sz="2000" b="1" dirty="0"/>
              <a:t>real-time scene understanding</a:t>
            </a:r>
            <a:r>
              <a:rPr lang="en-US" sz="2000" dirty="0"/>
              <a:t> in robotics, autonomous navigation, and smart environments.</a:t>
            </a:r>
          </a:p>
        </p:txBody>
      </p:sp>
    </p:spTree>
    <p:extLst>
      <p:ext uri="{BB962C8B-B14F-4D97-AF65-F5344CB8AC3E}">
        <p14:creationId xmlns:p14="http://schemas.microsoft.com/office/powerpoint/2010/main" val="805365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170275" y="6451049"/>
            <a:ext cx="94160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208072" y="6451049"/>
            <a:ext cx="941602"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6</a:t>
            </a:fld>
            <a:endParaRPr spc="-25" dirty="0"/>
          </a:p>
        </p:txBody>
      </p:sp>
      <p:sp>
        <p:nvSpPr>
          <p:cNvPr id="10" name="TextBox 9"/>
          <p:cNvSpPr txBox="1"/>
          <p:nvPr/>
        </p:nvSpPr>
        <p:spPr>
          <a:xfrm>
            <a:off x="1395599" y="1735788"/>
            <a:ext cx="9851390" cy="3170099"/>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Multi-task learning (MTL) enhances </a:t>
            </a:r>
            <a:r>
              <a:rPr lang="en-US" sz="2000" b="1" dirty="0"/>
              <a:t>efficiency, scalability, and generalization </a:t>
            </a:r>
            <a:r>
              <a:rPr lang="en-US" sz="2000" dirty="0"/>
              <a:t>across related visual tasks.</a:t>
            </a:r>
          </a:p>
          <a:p>
            <a:pPr algn="just"/>
            <a:endParaRPr lang="en-US" sz="2000" dirty="0"/>
          </a:p>
          <a:p>
            <a:pPr marL="285750" indent="-285750" algn="just">
              <a:buFont typeface="Wingdings" panose="05000000000000000000" pitchFamily="2" charset="2"/>
              <a:buChar char="Ø"/>
            </a:pPr>
            <a:r>
              <a:rPr lang="en-US" sz="2000" dirty="0" err="1"/>
              <a:t>DeMT’s</a:t>
            </a:r>
            <a:r>
              <a:rPr lang="en-US" sz="2000" dirty="0"/>
              <a:t> hybrid design bridges the gap between </a:t>
            </a:r>
            <a:r>
              <a:rPr lang="en-US" sz="2000" b="1" dirty="0"/>
              <a:t>CNN-based local feature extraction</a:t>
            </a:r>
            <a:r>
              <a:rPr lang="en-US" sz="2000" dirty="0"/>
              <a:t> and </a:t>
            </a:r>
            <a:r>
              <a:rPr lang="en-US" sz="2000" b="1" dirty="0"/>
              <a:t>Transformer-based global reasoning</a:t>
            </a:r>
            <a:r>
              <a:rPr lang="en-US" sz="2000" dirty="0"/>
              <a:t>, leading to </a:t>
            </a:r>
            <a:r>
              <a:rPr lang="en-US" sz="2000" b="1" dirty="0"/>
              <a:t>better performance and reduced inference time</a:t>
            </a:r>
            <a:r>
              <a:rPr lang="en-US" sz="2000" dirty="0"/>
              <a:t>.</a:t>
            </a:r>
          </a:p>
          <a:p>
            <a:pPr algn="just"/>
            <a:endParaRPr lang="en-US" sz="2000" dirty="0"/>
          </a:p>
          <a:p>
            <a:pPr marL="285750" indent="-285750" algn="just">
              <a:buFont typeface="Wingdings" panose="05000000000000000000" pitchFamily="2" charset="2"/>
              <a:buChar char="Ø"/>
            </a:pPr>
            <a:r>
              <a:rPr lang="en-US" sz="2000" dirty="0"/>
              <a:t>The model contributes to advancements in </a:t>
            </a:r>
            <a:r>
              <a:rPr lang="en-US" sz="2000" b="1" dirty="0"/>
              <a:t>computer vision, AI-driven automation, and human-environment interaction</a:t>
            </a:r>
            <a:r>
              <a:rPr lang="en-US" sz="2000" dirty="0"/>
              <a:t>—making it relevant for both academic research and industrial applications.</a:t>
            </a:r>
          </a:p>
        </p:txBody>
      </p:sp>
    </p:spTree>
    <p:extLst>
      <p:ext uri="{BB962C8B-B14F-4D97-AF65-F5344CB8AC3E}">
        <p14:creationId xmlns:p14="http://schemas.microsoft.com/office/powerpoint/2010/main" val="1752504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EA69-4DD4-2D28-D32F-F0B57F7474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141FD22-174C-0D8F-5F78-FB6B222441E4}"/>
              </a:ext>
            </a:extLst>
          </p:cNvPr>
          <p:cNvSpPr txBox="1">
            <a:spLocks noGrp="1"/>
          </p:cNvSpPr>
          <p:nvPr>
            <p:ph type="title"/>
          </p:nvPr>
        </p:nvSpPr>
        <p:spPr>
          <a:xfrm>
            <a:off x="-914400" y="491925"/>
            <a:ext cx="12459871" cy="942565"/>
          </a:xfrm>
          <a:prstGeom prst="rect">
            <a:avLst/>
          </a:prstGeom>
        </p:spPr>
        <p:txBody>
          <a:bodyPr vert="horz" wrap="square" lIns="0" tIns="262889" rIns="0" bIns="0" rtlCol="0">
            <a:spAutoFit/>
          </a:bodyPr>
          <a:lstStyle/>
          <a:p>
            <a:pPr marL="2989580" algn="l">
              <a:lnSpc>
                <a:spcPct val="100000"/>
              </a:lnSpc>
              <a:spcBef>
                <a:spcPts val="130"/>
              </a:spcBef>
            </a:pPr>
            <a:r>
              <a:rPr lang="en-IN" dirty="0"/>
              <a:t>Motivation for Multi-Task Learning</a:t>
            </a:r>
            <a:endParaRPr spc="-10" dirty="0"/>
          </a:p>
        </p:txBody>
      </p:sp>
      <p:sp>
        <p:nvSpPr>
          <p:cNvPr id="4" name="object 4">
            <a:extLst>
              <a:ext uri="{FF2B5EF4-FFF2-40B4-BE49-F238E27FC236}">
                <a16:creationId xmlns:a16="http://schemas.microsoft.com/office/drawing/2014/main" id="{C477541B-4ACE-24FD-09AD-52A22C147D42}"/>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8593393F-B2B0-BBE2-8C27-17AFCC8626AF}"/>
              </a:ext>
            </a:extLst>
          </p:cNvPr>
          <p:cNvSpPr txBox="1"/>
          <p:nvPr/>
        </p:nvSpPr>
        <p:spPr>
          <a:xfrm>
            <a:off x="4170275" y="6451049"/>
            <a:ext cx="94160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74359065-252C-0BC9-A443-B3E0ED80B0C0}"/>
              </a:ext>
            </a:extLst>
          </p:cNvPr>
          <p:cNvSpPr txBox="1">
            <a:spLocks noGrp="1"/>
          </p:cNvSpPr>
          <p:nvPr>
            <p:ph type="ftr" sz="quarter" idx="5"/>
          </p:nvPr>
        </p:nvSpPr>
        <p:spPr>
          <a:xfrm>
            <a:off x="5208072" y="6451049"/>
            <a:ext cx="941602"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F3375BC9-E935-99D4-73F0-F44714426995}"/>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a:extLst>
              <a:ext uri="{FF2B5EF4-FFF2-40B4-BE49-F238E27FC236}">
                <a16:creationId xmlns:a16="http://schemas.microsoft.com/office/drawing/2014/main" id="{1623AA2D-095B-F101-AC0A-1209D83F93AA}"/>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7</a:t>
            </a:fld>
            <a:endParaRPr spc="-25" dirty="0"/>
          </a:p>
        </p:txBody>
      </p:sp>
      <p:sp>
        <p:nvSpPr>
          <p:cNvPr id="10" name="TextBox 9">
            <a:extLst>
              <a:ext uri="{FF2B5EF4-FFF2-40B4-BE49-F238E27FC236}">
                <a16:creationId xmlns:a16="http://schemas.microsoft.com/office/drawing/2014/main" id="{F395FEAA-0A97-49A9-520A-895E93E91DF1}"/>
              </a:ext>
            </a:extLst>
          </p:cNvPr>
          <p:cNvSpPr txBox="1"/>
          <p:nvPr/>
        </p:nvSpPr>
        <p:spPr>
          <a:xfrm>
            <a:off x="1395599" y="1735788"/>
            <a:ext cx="9851390" cy="2554545"/>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Real-world vision systems must simultaneously understand </a:t>
            </a:r>
            <a:r>
              <a:rPr lang="en-US" sz="2000" b="1" dirty="0"/>
              <a:t>scene layout, object categories, depth variation, and structural edges</a:t>
            </a:r>
            <a:r>
              <a:rPr lang="en-US" sz="2000" dirty="0"/>
              <a:t>.</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US" sz="2000" dirty="0"/>
              <a:t>Solving these tasks independently ignores the </a:t>
            </a:r>
            <a:r>
              <a:rPr lang="en-US" sz="2000" b="1" dirty="0"/>
              <a:t>shared visual cues</a:t>
            </a:r>
            <a:r>
              <a:rPr lang="en-US" sz="2000" dirty="0"/>
              <a:t> present in a single image</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US" sz="2000" dirty="0"/>
              <a:t>A unified learning approach is required to exploit common information across tasks while reducing system complexity.</a:t>
            </a:r>
          </a:p>
        </p:txBody>
      </p:sp>
    </p:spTree>
    <p:extLst>
      <p:ext uri="{BB962C8B-B14F-4D97-AF65-F5344CB8AC3E}">
        <p14:creationId xmlns:p14="http://schemas.microsoft.com/office/powerpoint/2010/main" val="2413314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BB235-AF20-1777-E971-E003DFF23F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D7B031-9257-C840-30D6-B1FD3A898A09}"/>
              </a:ext>
            </a:extLst>
          </p:cNvPr>
          <p:cNvSpPr txBox="1">
            <a:spLocks noGrp="1"/>
          </p:cNvSpPr>
          <p:nvPr>
            <p:ph type="title"/>
          </p:nvPr>
        </p:nvSpPr>
        <p:spPr>
          <a:xfrm>
            <a:off x="-914400" y="491925"/>
            <a:ext cx="12459871" cy="942565"/>
          </a:xfrm>
          <a:prstGeom prst="rect">
            <a:avLst/>
          </a:prstGeom>
        </p:spPr>
        <p:txBody>
          <a:bodyPr vert="horz" wrap="square" lIns="0" tIns="262889" rIns="0" bIns="0" rtlCol="0">
            <a:spAutoFit/>
          </a:bodyPr>
          <a:lstStyle/>
          <a:p>
            <a:pPr marL="2989580" algn="l">
              <a:lnSpc>
                <a:spcPct val="100000"/>
              </a:lnSpc>
              <a:spcBef>
                <a:spcPts val="130"/>
              </a:spcBef>
            </a:pPr>
            <a:r>
              <a:rPr lang="en-IN" dirty="0"/>
              <a:t>Why Hybrid CNN + Transformer?</a:t>
            </a:r>
            <a:endParaRPr spc="-10" dirty="0"/>
          </a:p>
        </p:txBody>
      </p:sp>
      <p:sp>
        <p:nvSpPr>
          <p:cNvPr id="4" name="object 4">
            <a:extLst>
              <a:ext uri="{FF2B5EF4-FFF2-40B4-BE49-F238E27FC236}">
                <a16:creationId xmlns:a16="http://schemas.microsoft.com/office/drawing/2014/main" id="{F4E06FB5-725C-6EA9-AE93-0C9B6107A3CD}"/>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DD2D1AB1-219E-4FC6-815E-37586B9F0682}"/>
              </a:ext>
            </a:extLst>
          </p:cNvPr>
          <p:cNvSpPr txBox="1"/>
          <p:nvPr/>
        </p:nvSpPr>
        <p:spPr>
          <a:xfrm>
            <a:off x="4170275" y="6451049"/>
            <a:ext cx="94160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686F3BF7-C6E1-FAD5-7620-BE83A92BF9D2}"/>
              </a:ext>
            </a:extLst>
          </p:cNvPr>
          <p:cNvSpPr txBox="1">
            <a:spLocks noGrp="1"/>
          </p:cNvSpPr>
          <p:nvPr>
            <p:ph type="ftr" sz="quarter" idx="5"/>
          </p:nvPr>
        </p:nvSpPr>
        <p:spPr>
          <a:xfrm>
            <a:off x="5208072" y="6451049"/>
            <a:ext cx="941602"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141B2D8F-8A7C-99A3-3D5E-DDDC8BEE20AC}"/>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a:extLst>
              <a:ext uri="{FF2B5EF4-FFF2-40B4-BE49-F238E27FC236}">
                <a16:creationId xmlns:a16="http://schemas.microsoft.com/office/drawing/2014/main" id="{ECCD5F09-33FC-5E34-F14C-74317486368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sp>
        <p:nvSpPr>
          <p:cNvPr id="10" name="TextBox 9">
            <a:extLst>
              <a:ext uri="{FF2B5EF4-FFF2-40B4-BE49-F238E27FC236}">
                <a16:creationId xmlns:a16="http://schemas.microsoft.com/office/drawing/2014/main" id="{767C4D5D-A21D-EA59-93B7-53AED31FAFA6}"/>
              </a:ext>
            </a:extLst>
          </p:cNvPr>
          <p:cNvSpPr txBox="1"/>
          <p:nvPr/>
        </p:nvSpPr>
        <p:spPr>
          <a:xfrm>
            <a:off x="1395599" y="1735788"/>
            <a:ext cx="9851390" cy="2554545"/>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Convolutional networks are effective at extracting </a:t>
            </a:r>
            <a:r>
              <a:rPr lang="en-US" sz="2000" b="1" dirty="0"/>
              <a:t>localized spatial patterns</a:t>
            </a:r>
            <a:r>
              <a:rPr lang="en-US" sz="2000" dirty="0"/>
              <a:t> but struggle with long-range relationships.</a:t>
            </a:r>
          </a:p>
          <a:p>
            <a:pPr algn="just"/>
            <a:endParaRPr lang="en-US" sz="2000" dirty="0"/>
          </a:p>
          <a:p>
            <a:pPr marL="285750" indent="-285750" algn="just">
              <a:buFont typeface="Wingdings" panose="05000000000000000000" pitchFamily="2" charset="2"/>
              <a:buChar char="Ø"/>
            </a:pPr>
            <a:r>
              <a:rPr lang="en-US" sz="2000" dirty="0"/>
              <a:t>Transformer models excel at </a:t>
            </a:r>
            <a:r>
              <a:rPr lang="en-US" sz="2000" b="1" dirty="0"/>
              <a:t>global dependency modeling</a:t>
            </a:r>
            <a:r>
              <a:rPr lang="en-US" sz="2000" dirty="0"/>
              <a:t> but lack spatial inductive bias and are computationally expensive.</a:t>
            </a:r>
          </a:p>
          <a:p>
            <a:pPr algn="just"/>
            <a:endParaRPr lang="en-US" sz="2000" dirty="0"/>
          </a:p>
          <a:p>
            <a:pPr marL="285750" indent="-285750" algn="just">
              <a:buFont typeface="Wingdings" panose="05000000000000000000" pitchFamily="2" charset="2"/>
              <a:buChar char="Ø"/>
            </a:pPr>
            <a:r>
              <a:rPr lang="en-US" sz="2000" dirty="0"/>
              <a:t>A hybrid design leverages the </a:t>
            </a:r>
            <a:r>
              <a:rPr lang="en-US" sz="2000" b="1" dirty="0"/>
              <a:t>strengths of both architectures</a:t>
            </a:r>
            <a:r>
              <a:rPr lang="en-US" sz="2000" dirty="0"/>
              <a:t> while mitigating their individual limitations.</a:t>
            </a:r>
          </a:p>
        </p:txBody>
      </p:sp>
    </p:spTree>
    <p:extLst>
      <p:ext uri="{BB962C8B-B14F-4D97-AF65-F5344CB8AC3E}">
        <p14:creationId xmlns:p14="http://schemas.microsoft.com/office/powerpoint/2010/main" val="2330638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304870" y="6451049"/>
            <a:ext cx="101973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9</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865866280"/>
              </p:ext>
            </p:extLst>
          </p:nvPr>
        </p:nvGraphicFramePr>
        <p:xfrm>
          <a:off x="1154176" y="1149698"/>
          <a:ext cx="10058400" cy="5019036"/>
        </p:xfrm>
        <a:graphic>
          <a:graphicData uri="http://schemas.openxmlformats.org/drawingml/2006/table">
            <a:tbl>
              <a:tblPr firstRow="1" bandRow="1">
                <a:tableStyleId>{2D5ABB26-0587-4C30-8999-92F81FD0307C}</a:tableStyleId>
              </a:tblPr>
              <a:tblGrid>
                <a:gridCol w="519561">
                  <a:extLst>
                    <a:ext uri="{9D8B030D-6E8A-4147-A177-3AD203B41FA5}">
                      <a16:colId xmlns:a16="http://schemas.microsoft.com/office/drawing/2014/main" val="20000"/>
                    </a:ext>
                  </a:extLst>
                </a:gridCol>
                <a:gridCol w="1505182">
                  <a:extLst>
                    <a:ext uri="{9D8B030D-6E8A-4147-A177-3AD203B41FA5}">
                      <a16:colId xmlns:a16="http://schemas.microsoft.com/office/drawing/2014/main" val="20001"/>
                    </a:ext>
                  </a:extLst>
                </a:gridCol>
                <a:gridCol w="1110343">
                  <a:extLst>
                    <a:ext uri="{9D8B030D-6E8A-4147-A177-3AD203B41FA5}">
                      <a16:colId xmlns:a16="http://schemas.microsoft.com/office/drawing/2014/main" val="20002"/>
                    </a:ext>
                  </a:extLst>
                </a:gridCol>
                <a:gridCol w="1567543">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2024743">
                  <a:extLst>
                    <a:ext uri="{9D8B030D-6E8A-4147-A177-3AD203B41FA5}">
                      <a16:colId xmlns:a16="http://schemas.microsoft.com/office/drawing/2014/main" val="20005"/>
                    </a:ext>
                  </a:extLst>
                </a:gridCol>
                <a:gridCol w="1502228">
                  <a:extLst>
                    <a:ext uri="{9D8B030D-6E8A-4147-A177-3AD203B41FA5}">
                      <a16:colId xmlns:a16="http://schemas.microsoft.com/office/drawing/2014/main" val="20006"/>
                    </a:ext>
                  </a:extLst>
                </a:gridCol>
              </a:tblGrid>
              <a:tr h="90806">
                <a:tc>
                  <a:txBody>
                    <a:bodyPr/>
                    <a:lstStyle/>
                    <a:p>
                      <a:pPr marL="182880" algn="ctr">
                        <a:lnSpc>
                          <a:spcPct val="100000"/>
                        </a:lnSpc>
                        <a:spcBef>
                          <a:spcPts val="325"/>
                        </a:spcBef>
                      </a:pPr>
                      <a:r>
                        <a:rPr lang="en-IN" sz="1400" b="1" spc="-25" dirty="0" err="1">
                          <a:latin typeface="Calibri"/>
                          <a:cs typeface="Calibri"/>
                        </a:rPr>
                        <a:t>SNo</a:t>
                      </a:r>
                      <a:endParaRPr sz="1400" dirty="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400" b="1" spc="-10" dirty="0">
                          <a:latin typeface="Calibri"/>
                          <a:cs typeface="Calibri"/>
                        </a:rPr>
                        <a:t>Title</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4" algn="ctr">
                        <a:lnSpc>
                          <a:spcPct val="100000"/>
                        </a:lnSpc>
                        <a:spcBef>
                          <a:spcPts val="325"/>
                        </a:spcBef>
                      </a:pPr>
                      <a:r>
                        <a:rPr sz="1400" b="1" spc="-10" dirty="0">
                          <a:latin typeface="Calibri"/>
                          <a:cs typeface="Calibri"/>
                        </a:rPr>
                        <a:t>Author</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gn="ctr">
                        <a:lnSpc>
                          <a:spcPct val="100000"/>
                        </a:lnSpc>
                        <a:spcBef>
                          <a:spcPts val="229"/>
                        </a:spcBef>
                      </a:pPr>
                      <a:r>
                        <a:rPr sz="1400" b="1" dirty="0">
                          <a:latin typeface="Calibri"/>
                          <a:cs typeface="Calibri"/>
                        </a:rPr>
                        <a:t>Journal</a:t>
                      </a:r>
                      <a:r>
                        <a:rPr sz="1400" b="1" spc="130" dirty="0">
                          <a:latin typeface="Calibri"/>
                          <a:cs typeface="Calibri"/>
                        </a:rPr>
                        <a:t> </a:t>
                      </a:r>
                      <a:r>
                        <a:rPr sz="1400" b="1" dirty="0">
                          <a:latin typeface="Calibri"/>
                          <a:cs typeface="Calibri"/>
                        </a:rPr>
                        <a:t>Name</a:t>
                      </a:r>
                      <a:r>
                        <a:rPr sz="1400" b="1" spc="90" dirty="0">
                          <a:latin typeface="Calibri"/>
                          <a:cs typeface="Calibri"/>
                        </a:rPr>
                        <a:t> </a:t>
                      </a:r>
                      <a:r>
                        <a:rPr sz="1400" b="1" spc="-50" dirty="0">
                          <a:latin typeface="Calibri"/>
                          <a:cs typeface="Calibri"/>
                        </a:rPr>
                        <a:t>&amp; </a:t>
                      </a:r>
                      <a:r>
                        <a:rPr sz="1400" b="1" spc="-20" dirty="0">
                          <a:latin typeface="Calibri"/>
                          <a:cs typeface="Calibri"/>
                        </a:rPr>
                        <a:t>Year</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gn="ctr">
                        <a:lnSpc>
                          <a:spcPct val="100000"/>
                        </a:lnSpc>
                        <a:spcBef>
                          <a:spcPts val="229"/>
                        </a:spcBef>
                      </a:pPr>
                      <a:r>
                        <a:rPr sz="1400" b="1" spc="-10" dirty="0">
                          <a:latin typeface="Calibri"/>
                          <a:cs typeface="Calibri"/>
                        </a:rPr>
                        <a:t>Methodology Adapted</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gn="ctr">
                        <a:lnSpc>
                          <a:spcPct val="100000"/>
                        </a:lnSpc>
                        <a:spcBef>
                          <a:spcPts val="325"/>
                        </a:spcBef>
                      </a:pPr>
                      <a:r>
                        <a:rPr sz="1400" b="1" dirty="0">
                          <a:latin typeface="Calibri"/>
                          <a:cs typeface="Calibri"/>
                        </a:rPr>
                        <a:t>Key</a:t>
                      </a:r>
                      <a:r>
                        <a:rPr sz="1400" b="1" spc="45" dirty="0">
                          <a:latin typeface="Calibri"/>
                          <a:cs typeface="Calibri"/>
                        </a:rPr>
                        <a:t> </a:t>
                      </a:r>
                      <a:r>
                        <a:rPr sz="1400" b="1" spc="-10" dirty="0">
                          <a:latin typeface="Calibri"/>
                          <a:cs typeface="Calibri"/>
                        </a:rPr>
                        <a:t>Findings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400" b="1" spc="-20" dirty="0">
                          <a:latin typeface="Calibri"/>
                          <a:cs typeface="Calibri"/>
                        </a:rPr>
                        <a:t>Gaps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extLst>
                  <a:ext uri="{0D108BD9-81ED-4DB2-BD59-A6C34878D82A}">
                    <a16:rowId xmlns:a16="http://schemas.microsoft.com/office/drawing/2014/main" val="10000"/>
                  </a:ext>
                </a:extLst>
              </a:tr>
              <a:tr h="1377313">
                <a:tc>
                  <a:txBody>
                    <a:bodyPr/>
                    <a:lstStyle/>
                    <a:p>
                      <a:pPr marL="92075" algn="ctr">
                        <a:lnSpc>
                          <a:spcPct val="100000"/>
                        </a:lnSpc>
                        <a:spcBef>
                          <a:spcPts val="254"/>
                        </a:spcBef>
                      </a:pPr>
                      <a:r>
                        <a:rPr sz="1400" spc="-50" dirty="0">
                          <a:latin typeface="Calibri"/>
                          <a:cs typeface="Calibri"/>
                        </a:rPr>
                        <a:t>1</a:t>
                      </a:r>
                      <a:endParaRPr sz="14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ctr">
                        <a:lnSpc>
                          <a:spcPct val="100000"/>
                        </a:lnSpc>
                        <a:spcBef>
                          <a:spcPts val="254"/>
                        </a:spcBef>
                      </a:pPr>
                      <a:r>
                        <a:rPr lang="en-US" sz="1400" spc="-25" dirty="0">
                          <a:latin typeface="+mn-lt"/>
                          <a:cs typeface="Calibri"/>
                        </a:rPr>
                        <a:t>Multi-Task Learning With Multi-Query </a:t>
                      </a:r>
                      <a:endParaRPr sz="1400" dirty="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a:latin typeface="Times New Roman"/>
                          <a:cs typeface="Times New Roman"/>
                        </a:rPr>
                        <a:t>Yangyang Xu et al.,   2022, </a:t>
                      </a:r>
                      <a:r>
                        <a:rPr lang="en-US" sz="1400" dirty="0" err="1">
                          <a:latin typeface="Times New Roman"/>
                          <a:cs typeface="Times New Roman"/>
                        </a:rPr>
                        <a:t>arXiv</a:t>
                      </a:r>
                      <a:r>
                        <a:rPr lang="en-US" sz="1400" dirty="0">
                          <a:latin typeface="Times New Roman"/>
                          <a:cs typeface="Times New Roman"/>
                        </a:rPr>
                        <a:t> (IEEE TCSVT 2023)</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gn="ctr">
                        <a:lnSpc>
                          <a:spcPct val="100000"/>
                        </a:lnSpc>
                        <a:spcBef>
                          <a:spcPts val="254"/>
                        </a:spcBef>
                      </a:pPr>
                      <a:r>
                        <a:rPr lang="en-US" sz="1400">
                          <a:latin typeface="+mn-lt"/>
                          <a:cs typeface="Calibri"/>
                          <a:hlinkClick r:id="rId3"/>
                        </a:rPr>
                        <a:t>https://arxiv.org/pdf/2205.14354</a:t>
                      </a:r>
                      <a:endParaRPr sz="14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Multi-query transformer with cross-task attention </a:t>
                      </a:r>
                    </a:p>
                    <a:p>
                      <a:pPr algn="ctr">
                        <a:lnSpc>
                          <a:spcPct val="100000"/>
                        </a:lnSpc>
                      </a:pPr>
                      <a:r>
                        <a:rPr lang="en-US" sz="1400">
                          <a:latin typeface="Times New Roman"/>
                          <a:cs typeface="Times New Roman"/>
                        </a:rPr>
                        <a:t>and shared decoder</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Introduced task-query-based transformer, improved efficiency and accuracy on nyud-v2 &amp; pascal-context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Not scalable to many tasks due to query growth; relies on strong backbone</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751964">
                <a:tc>
                  <a:txBody>
                    <a:bodyPr/>
                    <a:lstStyle/>
                    <a:p>
                      <a:pPr marL="92075" algn="ctr">
                        <a:lnSpc>
                          <a:spcPct val="100000"/>
                        </a:lnSpc>
                        <a:spcBef>
                          <a:spcPts val="265"/>
                        </a:spcBef>
                      </a:pPr>
                      <a:r>
                        <a:rPr sz="1400" spc="-50" dirty="0">
                          <a:latin typeface="Calibri"/>
                          <a:cs typeface="Calibri"/>
                        </a:rPr>
                        <a:t>2</a:t>
                      </a:r>
                      <a:endParaRPr sz="1400" dirty="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InvPT: Inverted Pyramid Multi-Task Transformer for Dense Prediction</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err="1">
                          <a:latin typeface="Times New Roman"/>
                          <a:cs typeface="Times New Roman"/>
                        </a:rPr>
                        <a:t>Hanrong</a:t>
                      </a:r>
                      <a:r>
                        <a:rPr lang="en-US" sz="1400" dirty="0">
                          <a:latin typeface="Times New Roman"/>
                          <a:cs typeface="Times New Roman"/>
                        </a:rPr>
                        <a:t> Ye, Dan Xu, 2022, ECCV</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hlinkClick r:id="rId4"/>
                        </a:rPr>
                        <a:t>https://www.ecva.net/papers/eccv_2022/papers_ECCV/papers/136870506.pdf</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a:latin typeface="Times New Roman"/>
                          <a:cs typeface="Times New Roman"/>
                        </a:rPr>
                        <a:t>Inverted pyramid transformer with cross-scale attention and </a:t>
                      </a:r>
                      <a:r>
                        <a:rPr lang="en-US" sz="1400" dirty="0" err="1">
                          <a:latin typeface="Times New Roman"/>
                          <a:cs typeface="Times New Roman"/>
                        </a:rPr>
                        <a:t>upsampling</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Proposed pyramid transformer improving multi-task performance on multiple datasets</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High computational cost, limited generalization to new tasks</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433830">
                <a:tc>
                  <a:txBody>
                    <a:bodyPr/>
                    <a:lstStyle/>
                    <a:p>
                      <a:pPr marL="92075" algn="ctr">
                        <a:lnSpc>
                          <a:spcPct val="100000"/>
                        </a:lnSpc>
                        <a:spcBef>
                          <a:spcPts val="275"/>
                        </a:spcBef>
                      </a:pPr>
                      <a:r>
                        <a:rPr sz="1400" spc="-50" dirty="0">
                          <a:latin typeface="Calibri"/>
                          <a:cs typeface="Calibri"/>
                        </a:rPr>
                        <a:t>3</a:t>
                      </a:r>
                      <a:endParaRPr sz="140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InvPT++: Inverted Pyramid Multi-Task  Transformer for Dense Prediction</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Hanrong Ye, Dan Xu, 2023, arXiv (IEEE TPAMI 2024)</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hlinkClick r:id="rId5"/>
                        </a:rPr>
                        <a:t>https://arxiv.org/pdf/2306.04842</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Enhanced InvPT with Fusion and Selective Attention Modules</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Improved task-specific decoding and cross-task feature extraction</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a:latin typeface="Times New Roman"/>
                          <a:cs typeface="Times New Roman"/>
                        </a:rPr>
                        <a:t>More parameters and complexity, slow inference</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A7159-4076-0A0F-0325-4F4D45BE614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7E1A71-4389-B725-36E8-5BDC5DBF7E89}"/>
              </a:ext>
            </a:extLst>
          </p:cNvPr>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a:p>
        </p:txBody>
      </p:sp>
      <p:sp>
        <p:nvSpPr>
          <p:cNvPr id="4" name="object 4">
            <a:extLst>
              <a:ext uri="{FF2B5EF4-FFF2-40B4-BE49-F238E27FC236}">
                <a16:creationId xmlns:a16="http://schemas.microsoft.com/office/drawing/2014/main" id="{323E8853-AA32-0D92-84F1-2CF0368964A7}"/>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EC4A1408-9821-A977-1EDC-A31E87369052}"/>
              </a:ext>
            </a:extLst>
          </p:cNvPr>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FD492272-3D55-6B02-EE5E-34E7ACB30C5C}"/>
              </a:ext>
            </a:extLst>
          </p:cNvPr>
          <p:cNvSpPr txBox="1">
            <a:spLocks noGrp="1"/>
          </p:cNvSpPr>
          <p:nvPr>
            <p:ph type="ftr" sz="quarter" idx="5"/>
          </p:nvPr>
        </p:nvSpPr>
        <p:spPr>
          <a:xfrm>
            <a:off x="5304870" y="6451049"/>
            <a:ext cx="101973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727B4C85-D146-3D3C-7CC8-B7C42EFD252D}"/>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E121E4F8-5D22-B764-B024-01935966BC4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10</a:t>
            </a:fld>
            <a:endParaRPr spc="-25" dirty="0"/>
          </a:p>
        </p:txBody>
      </p:sp>
      <p:graphicFrame>
        <p:nvGraphicFramePr>
          <p:cNvPr id="3" name="object 3">
            <a:extLst>
              <a:ext uri="{FF2B5EF4-FFF2-40B4-BE49-F238E27FC236}">
                <a16:creationId xmlns:a16="http://schemas.microsoft.com/office/drawing/2014/main" id="{C3D411DE-B603-D0AE-1B81-33CC371CB7BA}"/>
              </a:ext>
            </a:extLst>
          </p:cNvPr>
          <p:cNvGraphicFramePr>
            <a:graphicFrameLocks noGrp="1"/>
          </p:cNvGraphicFramePr>
          <p:nvPr>
            <p:extLst>
              <p:ext uri="{D42A27DB-BD31-4B8C-83A1-F6EECF244321}">
                <p14:modId xmlns:p14="http://schemas.microsoft.com/office/powerpoint/2010/main" val="1905881850"/>
              </p:ext>
            </p:extLst>
          </p:nvPr>
        </p:nvGraphicFramePr>
        <p:xfrm>
          <a:off x="999113" y="1084235"/>
          <a:ext cx="10287000" cy="4689529"/>
        </p:xfrm>
        <a:graphic>
          <a:graphicData uri="http://schemas.openxmlformats.org/drawingml/2006/table">
            <a:tbl>
              <a:tblPr firstRow="1" bandRow="1">
                <a:tableStyleId>{2D5ABB26-0587-4C30-8999-92F81FD0307C}</a:tableStyleId>
              </a:tblPr>
              <a:tblGrid>
                <a:gridCol w="563671">
                  <a:extLst>
                    <a:ext uri="{9D8B030D-6E8A-4147-A177-3AD203B41FA5}">
                      <a16:colId xmlns:a16="http://schemas.microsoft.com/office/drawing/2014/main" val="20000"/>
                    </a:ext>
                  </a:extLst>
                </a:gridCol>
                <a:gridCol w="1691014">
                  <a:extLst>
                    <a:ext uri="{9D8B030D-6E8A-4147-A177-3AD203B41FA5}">
                      <a16:colId xmlns:a16="http://schemas.microsoft.com/office/drawing/2014/main" val="20001"/>
                    </a:ext>
                  </a:extLst>
                </a:gridCol>
                <a:gridCol w="1134224">
                  <a:extLst>
                    <a:ext uri="{9D8B030D-6E8A-4147-A177-3AD203B41FA5}">
                      <a16:colId xmlns:a16="http://schemas.microsoft.com/office/drawing/2014/main" val="20002"/>
                    </a:ext>
                  </a:extLst>
                </a:gridCol>
                <a:gridCol w="1694454">
                  <a:extLst>
                    <a:ext uri="{9D8B030D-6E8A-4147-A177-3AD203B41FA5}">
                      <a16:colId xmlns:a16="http://schemas.microsoft.com/office/drawing/2014/main" val="20003"/>
                    </a:ext>
                  </a:extLst>
                </a:gridCol>
                <a:gridCol w="1821610">
                  <a:extLst>
                    <a:ext uri="{9D8B030D-6E8A-4147-A177-3AD203B41FA5}">
                      <a16:colId xmlns:a16="http://schemas.microsoft.com/office/drawing/2014/main" val="20004"/>
                    </a:ext>
                  </a:extLst>
                </a:gridCol>
                <a:gridCol w="1972849">
                  <a:extLst>
                    <a:ext uri="{9D8B030D-6E8A-4147-A177-3AD203B41FA5}">
                      <a16:colId xmlns:a16="http://schemas.microsoft.com/office/drawing/2014/main" val="20005"/>
                    </a:ext>
                  </a:extLst>
                </a:gridCol>
                <a:gridCol w="1409178">
                  <a:extLst>
                    <a:ext uri="{9D8B030D-6E8A-4147-A177-3AD203B41FA5}">
                      <a16:colId xmlns:a16="http://schemas.microsoft.com/office/drawing/2014/main" val="20006"/>
                    </a:ext>
                  </a:extLst>
                </a:gridCol>
              </a:tblGrid>
              <a:tr h="762977">
                <a:tc>
                  <a:txBody>
                    <a:bodyPr/>
                    <a:lstStyle/>
                    <a:p>
                      <a:pPr marL="182880">
                        <a:lnSpc>
                          <a:spcPct val="100000"/>
                        </a:lnSpc>
                        <a:spcBef>
                          <a:spcPts val="325"/>
                        </a:spcBef>
                      </a:pPr>
                      <a:r>
                        <a:rPr lang="en-IN" sz="1400" b="1" spc="-25" dirty="0" err="1">
                          <a:latin typeface="Calibri"/>
                          <a:cs typeface="Calibri"/>
                        </a:rPr>
                        <a:t>SNo</a:t>
                      </a:r>
                      <a:endParaRPr sz="1400" dirty="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400" b="1" spc="-10" dirty="0">
                          <a:latin typeface="Calibri"/>
                          <a:cs typeface="Calibri"/>
                        </a:rPr>
                        <a:t>Title</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4">
                        <a:lnSpc>
                          <a:spcPct val="100000"/>
                        </a:lnSpc>
                        <a:spcBef>
                          <a:spcPts val="325"/>
                        </a:spcBef>
                      </a:pPr>
                      <a:r>
                        <a:rPr sz="1400" b="1" spc="-10" dirty="0">
                          <a:latin typeface="Calibri"/>
                          <a:cs typeface="Calibri"/>
                        </a:rPr>
                        <a:t>Author</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4900"/>
                        </a:lnSpc>
                        <a:spcBef>
                          <a:spcPts val="229"/>
                        </a:spcBef>
                      </a:pPr>
                      <a:r>
                        <a:rPr sz="1400" b="1" dirty="0">
                          <a:latin typeface="Calibri"/>
                          <a:cs typeface="Calibri"/>
                        </a:rPr>
                        <a:t>Journal</a:t>
                      </a:r>
                      <a:r>
                        <a:rPr sz="1400" b="1" spc="130" dirty="0">
                          <a:latin typeface="Calibri"/>
                          <a:cs typeface="Calibri"/>
                        </a:rPr>
                        <a:t> </a:t>
                      </a:r>
                      <a:r>
                        <a:rPr sz="1400" b="1" dirty="0">
                          <a:latin typeface="Calibri"/>
                          <a:cs typeface="Calibri"/>
                        </a:rPr>
                        <a:t>Name</a:t>
                      </a:r>
                      <a:r>
                        <a:rPr sz="1400" b="1" spc="90" dirty="0">
                          <a:latin typeface="Calibri"/>
                          <a:cs typeface="Calibri"/>
                        </a:rPr>
                        <a:t> </a:t>
                      </a:r>
                      <a:r>
                        <a:rPr sz="1400" b="1" spc="-50" dirty="0">
                          <a:latin typeface="Calibri"/>
                          <a:cs typeface="Calibri"/>
                        </a:rPr>
                        <a:t>&amp; </a:t>
                      </a:r>
                      <a:r>
                        <a:rPr sz="1400" b="1" spc="-20" dirty="0">
                          <a:latin typeface="Calibri"/>
                          <a:cs typeface="Calibri"/>
                        </a:rPr>
                        <a:t>Year</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4900"/>
                        </a:lnSpc>
                        <a:spcBef>
                          <a:spcPts val="229"/>
                        </a:spcBef>
                      </a:pPr>
                      <a:r>
                        <a:rPr sz="1400" b="1" spc="-10" dirty="0">
                          <a:latin typeface="Calibri"/>
                          <a:cs typeface="Calibri"/>
                        </a:rPr>
                        <a:t>Methodology Adapted</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400" b="1" dirty="0">
                          <a:latin typeface="Calibri"/>
                          <a:cs typeface="Calibri"/>
                        </a:rPr>
                        <a:t>Key</a:t>
                      </a:r>
                      <a:r>
                        <a:rPr sz="1400" b="1" spc="45" dirty="0">
                          <a:latin typeface="Calibri"/>
                          <a:cs typeface="Calibri"/>
                        </a:rPr>
                        <a:t> </a:t>
                      </a:r>
                      <a:r>
                        <a:rPr sz="1400" b="1" spc="-10" dirty="0">
                          <a:latin typeface="Calibri"/>
                          <a:cs typeface="Calibri"/>
                        </a:rPr>
                        <a:t>Findings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400" b="1" spc="-20" dirty="0">
                          <a:latin typeface="Calibri"/>
                          <a:cs typeface="Calibri"/>
                        </a:rPr>
                        <a:t>Gaps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extLst>
                  <a:ext uri="{0D108BD9-81ED-4DB2-BD59-A6C34878D82A}">
                    <a16:rowId xmlns:a16="http://schemas.microsoft.com/office/drawing/2014/main" val="10000"/>
                  </a:ext>
                </a:extLst>
              </a:tr>
              <a:tr h="1244807">
                <a:tc>
                  <a:txBody>
                    <a:bodyPr/>
                    <a:lstStyle/>
                    <a:p>
                      <a:pPr marL="92075">
                        <a:lnSpc>
                          <a:spcPct val="100000"/>
                        </a:lnSpc>
                        <a:spcBef>
                          <a:spcPts val="285"/>
                        </a:spcBef>
                      </a:pPr>
                      <a:r>
                        <a:rPr sz="1400" spc="-50" dirty="0">
                          <a:latin typeface="Calibri"/>
                          <a:cs typeface="Calibri"/>
                        </a:rPr>
                        <a:t>4</a:t>
                      </a:r>
                      <a:endParaRPr sz="1400">
                        <a:latin typeface="Calibri"/>
                        <a:cs typeface="Calibri"/>
                      </a:endParaRPr>
                    </a:p>
                  </a:txBody>
                  <a:tcPr marL="0" marR="0" marT="36195"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dirty="0" err="1">
                          <a:latin typeface="Times New Roman"/>
                          <a:cs typeface="Times New Roman"/>
                        </a:rPr>
                        <a:t>MTFormer</a:t>
                      </a:r>
                      <a:r>
                        <a:rPr lang="en-US" sz="1400" dirty="0">
                          <a:latin typeface="Times New Roman"/>
                          <a:cs typeface="Times New Roman"/>
                        </a:rPr>
                        <a:t>: Multi-Task Learning via  Transformer for Dense Prediction</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da-DK" sz="1400">
                          <a:latin typeface="Times New Roman"/>
                          <a:cs typeface="Times New Roman"/>
                        </a:rPr>
                        <a:t>Xu et al., 2022, ECCV</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a:latin typeface="Times New Roman"/>
                          <a:cs typeface="Times New Roman"/>
                          <a:hlinkClick r:id="rId3"/>
                        </a:rPr>
                        <a:t>https://www.ecva.net/papers/eccv_2022</a:t>
                      </a:r>
                    </a:p>
                    <a:p>
                      <a:pPr>
                        <a:lnSpc>
                          <a:spcPct val="100000"/>
                        </a:lnSpc>
                      </a:pPr>
                      <a:r>
                        <a:rPr lang="en-US" sz="1400">
                          <a:latin typeface="Times New Roman"/>
                          <a:cs typeface="Times New Roman"/>
                          <a:hlinkClick r:id="rId3"/>
                        </a:rPr>
                        <a:t>/papers_ECCV/papers/136870299.pdf</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a:latin typeface="Times New Roman"/>
                          <a:cs typeface="Times New Roman"/>
                        </a:rPr>
                        <a:t>Transformer encoder with inter-task reasoning modules</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a:latin typeface="Times New Roman"/>
                          <a:cs typeface="Times New Roman"/>
                        </a:rPr>
                        <a:t>Improved performance with explicit cross-task reasoning</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dirty="0">
                          <a:latin typeface="Times New Roman"/>
                          <a:cs typeface="Times New Roman"/>
                        </a:rPr>
                        <a:t>Added complexity, task-specific gains vary</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10004"/>
                  </a:ext>
                </a:extLst>
              </a:tr>
              <a:tr h="1188225">
                <a:tc>
                  <a:txBody>
                    <a:bodyPr/>
                    <a:lstStyle/>
                    <a:p>
                      <a:pPr marL="92075">
                        <a:lnSpc>
                          <a:spcPct val="100000"/>
                        </a:lnSpc>
                        <a:spcBef>
                          <a:spcPts val="295"/>
                        </a:spcBef>
                      </a:pPr>
                      <a:r>
                        <a:rPr sz="1400" spc="-50" dirty="0">
                          <a:latin typeface="Calibri"/>
                          <a:cs typeface="Calibri"/>
                        </a:rPr>
                        <a:t>5</a:t>
                      </a:r>
                      <a:endParaRPr sz="14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rPr>
                        <a:t>Multi-Task Learning of Dense Prediction (</a:t>
                      </a:r>
                      <a:r>
                        <a:rPr lang="en-US" sz="1400" dirty="0" err="1">
                          <a:latin typeface="Times New Roman"/>
                          <a:cs typeface="Times New Roman"/>
                        </a:rPr>
                        <a:t>DeMT</a:t>
                      </a:r>
                      <a:r>
                        <a:rPr lang="en-US" sz="1400" dirty="0">
                          <a:latin typeface="Times New Roman"/>
                          <a:cs typeface="Times New Roman"/>
                        </a:rPr>
                        <a:t>)  Transformer for Dense Prediction</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da-DK" sz="1400">
                          <a:latin typeface="Times New Roman"/>
                          <a:cs typeface="Times New Roman"/>
                        </a:rPr>
                        <a:t>Yangyang Xu et al., 2023, arXiv</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hlinkClick r:id="rId4"/>
                        </a:rPr>
                        <a:t>https://arxiv.org/pdf/2308.05721</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rPr>
                        <a:t>Deformable CNN + query transformer + task-specific gating</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a:latin typeface="Times New Roman"/>
                          <a:cs typeface="Times New Roman"/>
                        </a:rPr>
                        <a:t>Enhanced task separation and accuracy via gating</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rPr>
                        <a:t>Slightly more parameters, not tested on many-task settings</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281861">
                <a:tc>
                  <a:txBody>
                    <a:bodyPr/>
                    <a:lstStyle/>
                    <a:p>
                      <a:pPr marL="92075">
                        <a:lnSpc>
                          <a:spcPct val="100000"/>
                        </a:lnSpc>
                        <a:spcBef>
                          <a:spcPts val="295"/>
                        </a:spcBef>
                      </a:pPr>
                      <a:r>
                        <a:rPr lang="en-IN" sz="1400" dirty="0">
                          <a:latin typeface="Calibri"/>
                          <a:cs typeface="Calibri"/>
                        </a:rPr>
                        <a:t>6</a:t>
                      </a:r>
                      <a:endParaRPr sz="1400" dirty="0">
                        <a:latin typeface="Calibri"/>
                        <a:cs typeface="Calibri"/>
                      </a:endParaRPr>
                    </a:p>
                  </a:txBody>
                  <a:tcPr marL="0" marR="0" marT="37465"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a:cs typeface="Times New Roman"/>
                        </a:rPr>
                        <a:t> Prompt Guided Transformer for Multi-Task Dense</a:t>
                      </a:r>
                    </a:p>
                    <a:p>
                      <a:pPr>
                        <a:lnSpc>
                          <a:spcPct val="100000"/>
                        </a:lnSpc>
                      </a:pPr>
                      <a:r>
                        <a:rPr lang="en-IN" sz="1400" dirty="0">
                          <a:latin typeface="Times New Roman"/>
                          <a:cs typeface="Times New Roman"/>
                        </a:rPr>
                        <a:t>Prediction</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a:cs typeface="Times New Roman"/>
                        </a:rPr>
                        <a:t>Yuxiang Lu, </a:t>
                      </a:r>
                      <a:r>
                        <a:rPr lang="en-IN" sz="1400" dirty="0" err="1">
                          <a:latin typeface="Times New Roman"/>
                          <a:cs typeface="Times New Roman"/>
                        </a:rPr>
                        <a:t>Shalayiding</a:t>
                      </a:r>
                      <a:r>
                        <a:rPr lang="en-IN" sz="1400" dirty="0">
                          <a:latin typeface="Times New Roman"/>
                          <a:cs typeface="Times New Roman"/>
                        </a:rPr>
                        <a:t> </a:t>
                      </a:r>
                      <a:r>
                        <a:rPr lang="en-IN" sz="1400" dirty="0" err="1">
                          <a:latin typeface="Times New Roman"/>
                          <a:cs typeface="Times New Roman"/>
                        </a:rPr>
                        <a:t>Sirejiding</a:t>
                      </a:r>
                      <a:r>
                        <a:rPr lang="en-IN" sz="1400" dirty="0">
                          <a:latin typeface="Times New Roman"/>
                          <a:cs typeface="Times New Roman"/>
                        </a:rPr>
                        <a:t>, Yue Ding, Chunlin Wang, </a:t>
                      </a:r>
                      <a:r>
                        <a:rPr lang="en-IN" sz="1400" dirty="0" err="1">
                          <a:latin typeface="Times New Roman"/>
                          <a:cs typeface="Times New Roman"/>
                        </a:rPr>
                        <a:t>Hongtao</a:t>
                      </a:r>
                      <a:r>
                        <a:rPr lang="en-IN" sz="1400" dirty="0">
                          <a:latin typeface="Times New Roman"/>
                          <a:cs typeface="Times New Roman"/>
                        </a:rPr>
                        <a:t> Lu, 2023</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a:cs typeface="Times New Roman"/>
                          <a:hlinkClick r:id="rId5"/>
                        </a:rPr>
                        <a:t>https://arxiv.org/pdf/2307.15362</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US" sz="1400" dirty="0">
                          <a:latin typeface="Times New Roman"/>
                          <a:cs typeface="Times New Roman"/>
                        </a:rPr>
                        <a:t>A transformer block modified to incorporate task-specific </a:t>
                      </a:r>
                      <a:r>
                        <a:rPr lang="en-US" sz="1400" dirty="0" err="1">
                          <a:latin typeface="Times New Roman"/>
                          <a:cs typeface="Times New Roman"/>
                        </a:rPr>
                        <a:t>prompts,Uses</a:t>
                      </a:r>
                      <a:r>
                        <a:rPr lang="en-US" sz="1400" dirty="0">
                          <a:latin typeface="Times New Roman"/>
                          <a:cs typeface="Times New Roman"/>
                        </a:rPr>
                        <a:t> only ~2.7% of total parameters with minimal complexity.</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US" sz="1400" dirty="0">
                          <a:latin typeface="Times New Roman"/>
                          <a:cs typeface="Times New Roman"/>
                        </a:rPr>
                        <a:t>Prompt Guided Transformer (PGT): Efficient task-specific adaptation through prompt tokens injected into self-attention layers.</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US" sz="1400" dirty="0">
                          <a:latin typeface="Times New Roman"/>
                          <a:cs typeface="Times New Roman"/>
                        </a:rPr>
                        <a:t>The approach still involves separate forward passes per task, limiting inference speed.</a:t>
                      </a:r>
                    </a:p>
                    <a:p>
                      <a:pPr>
                        <a:lnSpc>
                          <a:spcPct val="100000"/>
                        </a:lnSpc>
                      </a:pPr>
                      <a:endParaRPr lang="en-US" sz="1400" dirty="0">
                        <a:latin typeface="Times New Roman"/>
                        <a:cs typeface="Times New Roman"/>
                      </a:endParaRPr>
                    </a:p>
                    <a:p>
                      <a:pPr>
                        <a:lnSpc>
                          <a:spcPct val="100000"/>
                        </a:lnSpc>
                      </a:pP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996697887"/>
                  </a:ext>
                </a:extLst>
              </a:tr>
            </a:tbl>
          </a:graphicData>
        </a:graphic>
      </p:graphicFrame>
    </p:spTree>
    <p:extLst>
      <p:ext uri="{BB962C8B-B14F-4D97-AF65-F5344CB8AC3E}">
        <p14:creationId xmlns:p14="http://schemas.microsoft.com/office/powerpoint/2010/main" val="152137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8810-EF04-20B0-9C6C-C8A4CAE8DD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18D651-5685-0825-2F85-89BD05F7B5BA}"/>
              </a:ext>
            </a:extLst>
          </p:cNvPr>
          <p:cNvSpPr txBox="1">
            <a:spLocks noGrp="1"/>
          </p:cNvSpPr>
          <p:nvPr>
            <p:ph type="title"/>
          </p:nvPr>
        </p:nvSpPr>
        <p:spPr>
          <a:xfrm>
            <a:off x="1045463" y="283463"/>
            <a:ext cx="10101072" cy="942565"/>
          </a:xfrm>
          <a:prstGeom prst="rect">
            <a:avLst/>
          </a:prstGeom>
        </p:spPr>
        <p:txBody>
          <a:bodyPr vert="horz" wrap="square" lIns="0" tIns="262889" rIns="0" bIns="0" rtlCol="0">
            <a:spAutoFit/>
          </a:bodyPr>
          <a:lstStyle/>
          <a:p>
            <a:pPr marL="2856230" algn="just">
              <a:lnSpc>
                <a:spcPct val="100000"/>
              </a:lnSpc>
              <a:spcBef>
                <a:spcPts val="130"/>
              </a:spcBef>
            </a:pPr>
            <a:r>
              <a:rPr dirty="0"/>
              <a:t>RESEARCH</a:t>
            </a:r>
            <a:r>
              <a:rPr spc="-140" dirty="0"/>
              <a:t> </a:t>
            </a:r>
            <a:r>
              <a:rPr spc="-20" dirty="0"/>
              <a:t>GAPS</a:t>
            </a:r>
          </a:p>
        </p:txBody>
      </p:sp>
      <p:sp>
        <p:nvSpPr>
          <p:cNvPr id="4" name="object 4">
            <a:extLst>
              <a:ext uri="{FF2B5EF4-FFF2-40B4-BE49-F238E27FC236}">
                <a16:creationId xmlns:a16="http://schemas.microsoft.com/office/drawing/2014/main" id="{C09015BF-7AB0-921B-DA95-C0FA8EB0AB92}"/>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gn="just">
              <a:lnSpc>
                <a:spcPts val="1410"/>
              </a:lnSpc>
            </a:pPr>
            <a:r>
              <a:rPr lang="en-IN" spc="-10" dirty="0"/>
              <a:t>11-11-2025</a:t>
            </a:r>
            <a:endParaRPr spc="-20" dirty="0"/>
          </a:p>
        </p:txBody>
      </p:sp>
      <p:sp>
        <p:nvSpPr>
          <p:cNvPr id="5" name="object 5">
            <a:extLst>
              <a:ext uri="{FF2B5EF4-FFF2-40B4-BE49-F238E27FC236}">
                <a16:creationId xmlns:a16="http://schemas.microsoft.com/office/drawing/2014/main" id="{B59D27A9-15B7-C40F-D215-8D14677A59F6}"/>
              </a:ext>
            </a:extLst>
          </p:cNvPr>
          <p:cNvSpPr txBox="1"/>
          <p:nvPr/>
        </p:nvSpPr>
        <p:spPr>
          <a:xfrm>
            <a:off x="3810000" y="6451049"/>
            <a:ext cx="1378203" cy="179536"/>
          </a:xfrm>
          <a:prstGeom prst="rect">
            <a:avLst/>
          </a:prstGeom>
        </p:spPr>
        <p:txBody>
          <a:bodyPr vert="horz" wrap="square" lIns="0" tIns="0" rIns="0" bIns="0" rtlCol="0">
            <a:spAutoFit/>
          </a:bodyPr>
          <a:lstStyle/>
          <a:p>
            <a:pPr marL="12700" algn="just">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8362B9F3-7DB6-57A7-66F9-11D4590764B5}"/>
              </a:ext>
            </a:extLst>
          </p:cNvPr>
          <p:cNvSpPr txBox="1">
            <a:spLocks noGrp="1"/>
          </p:cNvSpPr>
          <p:nvPr>
            <p:ph type="ftr" sz="quarter" idx="5"/>
          </p:nvPr>
        </p:nvSpPr>
        <p:spPr>
          <a:xfrm>
            <a:off x="4926664" y="6451049"/>
            <a:ext cx="1223010" cy="179536"/>
          </a:xfrm>
          <a:prstGeom prst="rect">
            <a:avLst/>
          </a:prstGeom>
        </p:spPr>
        <p:txBody>
          <a:bodyPr vert="horz" wrap="square" lIns="0" tIns="0" rIns="0" bIns="0" rtlCol="0">
            <a:spAutoFit/>
          </a:bodyPr>
          <a:lstStyle/>
          <a:p>
            <a:pPr marL="12700" algn="just">
              <a:lnSpc>
                <a:spcPts val="1410"/>
              </a:lnSpc>
            </a:pPr>
            <a:r>
              <a:rPr lang="en-IN" dirty="0"/>
              <a:t>Batch No.BG6</a:t>
            </a:r>
            <a:endParaRPr spc="-25" dirty="0"/>
          </a:p>
        </p:txBody>
      </p:sp>
      <p:sp>
        <p:nvSpPr>
          <p:cNvPr id="7" name="object 7">
            <a:extLst>
              <a:ext uri="{FF2B5EF4-FFF2-40B4-BE49-F238E27FC236}">
                <a16:creationId xmlns:a16="http://schemas.microsoft.com/office/drawing/2014/main" id="{80F1456B-777B-A90B-AB22-EC079BB3B920}"/>
              </a:ext>
            </a:extLst>
          </p:cNvPr>
          <p:cNvSpPr txBox="1"/>
          <p:nvPr/>
        </p:nvSpPr>
        <p:spPr>
          <a:xfrm>
            <a:off x="6542944" y="6451049"/>
            <a:ext cx="1223010" cy="179536"/>
          </a:xfrm>
          <a:prstGeom prst="rect">
            <a:avLst/>
          </a:prstGeom>
        </p:spPr>
        <p:txBody>
          <a:bodyPr vert="horz" wrap="square" lIns="0" tIns="0" rIns="0" bIns="0" rtlCol="0">
            <a:spAutoFit/>
          </a:bodyPr>
          <a:lstStyle/>
          <a:p>
            <a:pPr marL="12700" algn="just">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077D6323-F168-4EEE-F04A-F1AE4A6CB095}"/>
              </a:ext>
            </a:extLst>
          </p:cNvPr>
          <p:cNvSpPr txBox="1">
            <a:spLocks noGrp="1"/>
          </p:cNvSpPr>
          <p:nvPr>
            <p:ph type="sldNum" sz="quarter" idx="7"/>
          </p:nvPr>
        </p:nvSpPr>
        <p:spPr>
          <a:xfrm>
            <a:off x="11104626" y="6451049"/>
            <a:ext cx="215900" cy="179536"/>
          </a:xfrm>
          <a:prstGeom prst="rect">
            <a:avLst/>
          </a:prstGeom>
        </p:spPr>
        <p:txBody>
          <a:bodyPr vert="horz" wrap="square" lIns="0" tIns="0" rIns="0" bIns="0" rtlCol="0">
            <a:spAutoFit/>
          </a:bodyPr>
          <a:lstStyle/>
          <a:p>
            <a:pPr marL="12700" algn="just">
              <a:lnSpc>
                <a:spcPts val="1410"/>
              </a:lnSpc>
            </a:pPr>
            <a:fld id="{81D60167-4931-47E6-BA6A-407CBD079E47}" type="slidenum">
              <a:rPr spc="-25" dirty="0"/>
              <a:pPr marL="12700" algn="just">
                <a:lnSpc>
                  <a:spcPts val="1410"/>
                </a:lnSpc>
              </a:pPr>
              <a:t>11</a:t>
            </a:fld>
            <a:endParaRPr spc="-25" dirty="0"/>
          </a:p>
        </p:txBody>
      </p:sp>
      <p:sp>
        <p:nvSpPr>
          <p:cNvPr id="3" name="object 3">
            <a:extLst>
              <a:ext uri="{FF2B5EF4-FFF2-40B4-BE49-F238E27FC236}">
                <a16:creationId xmlns:a16="http://schemas.microsoft.com/office/drawing/2014/main" id="{DF703DEE-12A7-B8E9-13F9-8A653EDD6C8D}"/>
              </a:ext>
            </a:extLst>
          </p:cNvPr>
          <p:cNvSpPr txBox="1"/>
          <p:nvPr/>
        </p:nvSpPr>
        <p:spPr>
          <a:xfrm>
            <a:off x="951988" y="1828800"/>
            <a:ext cx="10588625" cy="2767424"/>
          </a:xfrm>
          <a:prstGeom prst="rect">
            <a:avLst/>
          </a:prstGeom>
        </p:spPr>
        <p:txBody>
          <a:bodyPr vert="horz" wrap="square" lIns="0" tIns="99060" rIns="0" bIns="0" rtlCol="0">
            <a:spAutoFit/>
          </a:bodyPr>
          <a:lstStyle/>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Existing CNN-based methods capture only </a:t>
            </a:r>
            <a:r>
              <a:rPr lang="en-US" sz="2000" b="1" dirty="0">
                <a:latin typeface="Times New Roman" panose="02020603050405020304" pitchFamily="18" charset="0"/>
                <a:cs typeface="Times New Roman" panose="02020603050405020304" pitchFamily="18" charset="0"/>
              </a:rPr>
              <a:t>local features</a:t>
            </a:r>
            <a:r>
              <a:rPr lang="en-US" sz="2000" dirty="0">
                <a:latin typeface="Times New Roman" panose="02020603050405020304" pitchFamily="18" charset="0"/>
                <a:cs typeface="Times New Roman" panose="02020603050405020304" pitchFamily="18" charset="0"/>
              </a:rPr>
              <a:t>, while transformer models capture </a:t>
            </a:r>
            <a:r>
              <a:rPr lang="en-US" sz="2000" b="1" dirty="0">
                <a:latin typeface="Times New Roman" panose="02020603050405020304" pitchFamily="18" charset="0"/>
                <a:cs typeface="Times New Roman" panose="02020603050405020304" pitchFamily="18" charset="0"/>
              </a:rPr>
              <a:t>global context</a:t>
            </a:r>
            <a:r>
              <a:rPr lang="en-US" sz="2000" dirty="0">
                <a:latin typeface="Times New Roman" panose="02020603050405020304" pitchFamily="18" charset="0"/>
                <a:cs typeface="Times New Roman" panose="02020603050405020304" pitchFamily="18" charset="0"/>
              </a:rPr>
              <a:t> but are </a:t>
            </a:r>
            <a:r>
              <a:rPr lang="en-US" sz="2000" b="1" dirty="0">
                <a:latin typeface="Times New Roman" panose="02020603050405020304" pitchFamily="18" charset="0"/>
                <a:cs typeface="Times New Roman" panose="02020603050405020304" pitchFamily="18" charset="0"/>
              </a:rPr>
              <a:t>computationally heavy</a:t>
            </a:r>
            <a:r>
              <a:rPr lang="en-US" sz="2000" dirty="0">
                <a:latin typeface="Times New Roman" panose="02020603050405020304" pitchFamily="18" charset="0"/>
                <a:cs typeface="Times New Roman" panose="02020603050405020304" pitchFamily="18" charset="0"/>
              </a:rPr>
              <a:t>, making them unsuitable for efficient multi-task dense prediction</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Current architectures lack </a:t>
            </a:r>
            <a:r>
              <a:rPr lang="en-US" sz="2000" b="1" dirty="0">
                <a:latin typeface="Times New Roman" panose="02020603050405020304" pitchFamily="18" charset="0"/>
                <a:cs typeface="Times New Roman" panose="02020603050405020304" pitchFamily="18" charset="0"/>
              </a:rPr>
              <a:t>spatial adaptability</a:t>
            </a:r>
            <a:r>
              <a:rPr lang="en-US" sz="2000" dirty="0">
                <a:latin typeface="Times New Roman" panose="02020603050405020304" pitchFamily="18" charset="0"/>
                <a:cs typeface="Times New Roman" panose="02020603050405020304" pitchFamily="18" charset="0"/>
              </a:rPr>
              <a:t> due to fixed convolution kernels and show </a:t>
            </a:r>
            <a:r>
              <a:rPr lang="en-US" sz="2000" b="1" dirty="0">
                <a:latin typeface="Times New Roman" panose="02020603050405020304" pitchFamily="18" charset="0"/>
                <a:cs typeface="Times New Roman" panose="02020603050405020304" pitchFamily="18" charset="0"/>
              </a:rPr>
              <a:t>weak interaction between tasks</a:t>
            </a:r>
            <a:r>
              <a:rPr lang="en-US" sz="2000" dirty="0">
                <a:latin typeface="Times New Roman" panose="02020603050405020304" pitchFamily="18" charset="0"/>
                <a:cs typeface="Times New Roman" panose="02020603050405020304" pitchFamily="18" charset="0"/>
              </a:rPr>
              <a:t>, resulting in limited cross-task learning and reduced overall performance.</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There is no unified model that effectively combines </a:t>
            </a:r>
            <a:r>
              <a:rPr lang="en-US" sz="2000" b="1" dirty="0">
                <a:latin typeface="Times New Roman" panose="02020603050405020304" pitchFamily="18" charset="0"/>
                <a:cs typeface="Times New Roman" panose="02020603050405020304" pitchFamily="18" charset="0"/>
              </a:rPr>
              <a:t>local adaptability</a:t>
            </a:r>
            <a:r>
              <a:rPr lang="en-US" sz="2000" dirty="0">
                <a:latin typeface="Times New Roman" panose="02020603050405020304" pitchFamily="18" charset="0"/>
                <a:cs typeface="Times New Roman" panose="02020603050405020304" pitchFamily="18" charset="0"/>
              </a:rPr>
              <a:t> (deformable convolutions) with </a:t>
            </a:r>
            <a:r>
              <a:rPr lang="en-US" sz="2000" b="1" dirty="0">
                <a:latin typeface="Times New Roman" panose="02020603050405020304" pitchFamily="18" charset="0"/>
                <a:cs typeface="Times New Roman" panose="02020603050405020304" pitchFamily="18" charset="0"/>
              </a:rPr>
              <a:t>global reasoning</a:t>
            </a:r>
            <a:r>
              <a:rPr lang="en-US" sz="2000" dirty="0">
                <a:latin typeface="Times New Roman" panose="02020603050405020304" pitchFamily="18" charset="0"/>
                <a:cs typeface="Times New Roman" panose="02020603050405020304" pitchFamily="18" charset="0"/>
              </a:rPr>
              <a:t> (transformer attention) in a </a:t>
            </a:r>
            <a:r>
              <a:rPr lang="en-US" sz="2000" b="1" dirty="0">
                <a:latin typeface="Times New Roman" panose="02020603050405020304" pitchFamily="18" charset="0"/>
                <a:cs typeface="Times New Roman" panose="02020603050405020304" pitchFamily="18" charset="0"/>
              </a:rPr>
              <a:t>single, efficient, real-time-capable framework</a:t>
            </a:r>
            <a:r>
              <a:rPr lang="en-US" sz="2000" dirty="0">
                <a:latin typeface="Times New Roman" panose="02020603050405020304" pitchFamily="18" charset="0"/>
                <a:cs typeface="Times New Roman" panose="02020603050405020304" pitchFamily="18" charset="0"/>
              </a:rPr>
              <a:t>, creating the need for a hybrid architecture like </a:t>
            </a:r>
            <a:r>
              <a:rPr lang="en-US" sz="2000" dirty="0" err="1">
                <a:latin typeface="Times New Roman" panose="02020603050405020304" pitchFamily="18" charset="0"/>
                <a:cs typeface="Times New Roman" panose="02020603050405020304" pitchFamily="18" charset="0"/>
              </a:rPr>
              <a:t>DeMT</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422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6028D-0DBB-CDD1-293A-047F849481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E6DEE69-05ED-0D8E-02CF-9F2E5651B2E8}"/>
              </a:ext>
            </a:extLst>
          </p:cNvPr>
          <p:cNvSpPr txBox="1">
            <a:spLocks noGrp="1"/>
          </p:cNvSpPr>
          <p:nvPr>
            <p:ph type="title"/>
          </p:nvPr>
        </p:nvSpPr>
        <p:spPr>
          <a:prstGeom prst="rect">
            <a:avLst/>
          </a:prstGeom>
        </p:spPr>
        <p:txBody>
          <a:bodyPr vert="horz" wrap="square" lIns="0" tIns="262889" rIns="0" bIns="0" rtlCol="0">
            <a:spAutoFit/>
          </a:bodyPr>
          <a:lstStyle/>
          <a:p>
            <a:pPr marL="2027555">
              <a:lnSpc>
                <a:spcPct val="100000"/>
              </a:lnSpc>
              <a:spcBef>
                <a:spcPts val="130"/>
              </a:spcBef>
            </a:pPr>
            <a:r>
              <a:rPr dirty="0"/>
              <a:t>PROBLEM</a:t>
            </a:r>
            <a:r>
              <a:rPr spc="-170" dirty="0"/>
              <a:t> </a:t>
            </a:r>
            <a:r>
              <a:rPr spc="-50" dirty="0"/>
              <a:t>STATEMENT</a:t>
            </a:r>
          </a:p>
        </p:txBody>
      </p:sp>
      <p:sp>
        <p:nvSpPr>
          <p:cNvPr id="4" name="object 4">
            <a:extLst>
              <a:ext uri="{FF2B5EF4-FFF2-40B4-BE49-F238E27FC236}">
                <a16:creationId xmlns:a16="http://schemas.microsoft.com/office/drawing/2014/main" id="{2F91817B-2D5D-6849-A3E1-18D26987FB38}"/>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310C6F32-55DE-6C39-EB57-2749675B5640}"/>
              </a:ext>
            </a:extLst>
          </p:cNvPr>
          <p:cNvSpPr txBox="1"/>
          <p:nvPr/>
        </p:nvSpPr>
        <p:spPr>
          <a:xfrm>
            <a:off x="3810000" y="6451049"/>
            <a:ext cx="1378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716ECC9C-10B6-3B7E-2E75-658BB34D0621}"/>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8609A297-26ED-C679-02A0-BE2714944FAE}"/>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20128426-15D6-89B8-B5B5-E8D4767E8AF3}"/>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3" name="object 3">
            <a:extLst>
              <a:ext uri="{FF2B5EF4-FFF2-40B4-BE49-F238E27FC236}">
                <a16:creationId xmlns:a16="http://schemas.microsoft.com/office/drawing/2014/main" id="{2EDBDBED-A3CD-10AA-3A71-25E2F1458C2D}"/>
              </a:ext>
            </a:extLst>
          </p:cNvPr>
          <p:cNvSpPr txBox="1"/>
          <p:nvPr/>
        </p:nvSpPr>
        <p:spPr>
          <a:xfrm>
            <a:off x="940220" y="1676400"/>
            <a:ext cx="10488310" cy="2767424"/>
          </a:xfrm>
          <a:prstGeom prst="rect">
            <a:avLst/>
          </a:prstGeom>
        </p:spPr>
        <p:txBody>
          <a:bodyPr vert="horz" wrap="square" lIns="0" tIns="99060" rIns="0" bIns="0" rtlCol="0">
            <a:spAutoFit/>
          </a:bodyPr>
          <a:lstStyle/>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A single RGB image must be used to predict </a:t>
            </a:r>
            <a:r>
              <a:rPr lang="en-US" sz="2000" b="1" dirty="0">
                <a:latin typeface="Times New Roman" panose="02020603050405020304" pitchFamily="18" charset="0"/>
                <a:cs typeface="Times New Roman" panose="02020603050405020304" pitchFamily="18" charset="0"/>
              </a:rPr>
              <a:t>multiple dense outputs</a:t>
            </a:r>
            <a:r>
              <a:rPr lang="en-US" sz="2000" dirty="0">
                <a:latin typeface="Times New Roman" panose="02020603050405020304" pitchFamily="18" charset="0"/>
                <a:cs typeface="Times New Roman" panose="02020603050405020304" pitchFamily="18" charset="0"/>
              </a:rPr>
              <a:t> such as segmentation, boundaries, depth, and surface normals — each requiring different spatial and semantic understanding.</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Traditional CNN models capture only </a:t>
            </a:r>
            <a:r>
              <a:rPr lang="en-US" sz="2000" b="1" dirty="0">
                <a:latin typeface="Times New Roman" panose="02020603050405020304" pitchFamily="18" charset="0"/>
                <a:cs typeface="Times New Roman" panose="02020603050405020304" pitchFamily="18" charset="0"/>
              </a:rPr>
              <a:t>local features</a:t>
            </a:r>
            <a:r>
              <a:rPr lang="en-US" sz="2000" dirty="0">
                <a:latin typeface="Times New Roman" panose="02020603050405020304" pitchFamily="18" charset="0"/>
                <a:cs typeface="Times New Roman" panose="02020603050405020304" pitchFamily="18" charset="0"/>
              </a:rPr>
              <a:t>, while transformer models capture </a:t>
            </a:r>
            <a:r>
              <a:rPr lang="en-US" sz="2000" b="1" dirty="0">
                <a:latin typeface="Times New Roman" panose="02020603050405020304" pitchFamily="18" charset="0"/>
                <a:cs typeface="Times New Roman" panose="02020603050405020304" pitchFamily="18" charset="0"/>
              </a:rPr>
              <a:t>global dependencies</a:t>
            </a:r>
            <a:r>
              <a:rPr lang="en-US" sz="2000" dirty="0">
                <a:latin typeface="Times New Roman" panose="02020603050405020304" pitchFamily="18" charset="0"/>
                <a:cs typeface="Times New Roman" panose="02020603050405020304" pitchFamily="18" charset="0"/>
              </a:rPr>
              <a:t>, making it difficult to efficiently handle all tasks in one unified model.</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There is a need for an architecture that can perform </a:t>
            </a:r>
            <a:r>
              <a:rPr lang="en-US" sz="2000" b="1" dirty="0">
                <a:latin typeface="Times New Roman" panose="02020603050405020304" pitchFamily="18" charset="0"/>
                <a:cs typeface="Times New Roman" panose="02020603050405020304" pitchFamily="18" charset="0"/>
              </a:rPr>
              <a:t>all these tasks simultaneously</a:t>
            </a:r>
            <a:r>
              <a:rPr lang="en-US" sz="2000" dirty="0">
                <a:latin typeface="Times New Roman" panose="02020603050405020304" pitchFamily="18" charset="0"/>
                <a:cs typeface="Times New Roman" panose="02020603050405020304" pitchFamily="18" charset="0"/>
              </a:rPr>
              <a:t>, while maintaining </a:t>
            </a:r>
            <a:r>
              <a:rPr lang="en-US" sz="2000" b="1" dirty="0">
                <a:latin typeface="Times New Roman" panose="02020603050405020304" pitchFamily="18" charset="0"/>
                <a:cs typeface="Times New Roman" panose="02020603050405020304" pitchFamily="18" charset="0"/>
              </a:rPr>
              <a:t>accuracy</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spatial adaptability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real-time efficiency</a:t>
            </a:r>
            <a:r>
              <a:rPr lang="en-US" sz="2000" dirty="0">
                <a:latin typeface="Times New Roman" panose="02020603050405020304" pitchFamily="18" charset="0"/>
                <a:cs typeface="Times New Roman" panose="02020603050405020304" pitchFamily="18" charset="0"/>
              </a:rPr>
              <a:t> on complex datasets like </a:t>
            </a:r>
            <a:r>
              <a:rPr lang="en-US" sz="2000" b="1" dirty="0">
                <a:latin typeface="Times New Roman" panose="02020603050405020304" pitchFamily="18" charset="0"/>
                <a:cs typeface="Times New Roman" panose="02020603050405020304" pitchFamily="18" charset="0"/>
              </a:rPr>
              <a:t>NYUD-v2</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4221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454400">
              <a:lnSpc>
                <a:spcPct val="100000"/>
              </a:lnSpc>
              <a:spcBef>
                <a:spcPts val="130"/>
              </a:spcBef>
            </a:pPr>
            <a:r>
              <a:rPr spc="-10" dirty="0"/>
              <a:t>OBJECTIVES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13</a:t>
            </a:fld>
            <a:endParaRPr spc="-25" dirty="0"/>
          </a:p>
        </p:txBody>
      </p:sp>
      <p:sp>
        <p:nvSpPr>
          <p:cNvPr id="3" name="object 3"/>
          <p:cNvSpPr txBox="1"/>
          <p:nvPr/>
        </p:nvSpPr>
        <p:spPr>
          <a:xfrm>
            <a:off x="917575" y="1676400"/>
            <a:ext cx="10512425" cy="3177793"/>
          </a:xfrm>
          <a:prstGeom prst="rect">
            <a:avLst/>
          </a:prstGeom>
        </p:spPr>
        <p:txBody>
          <a:bodyPr vert="horz" wrap="square" lIns="0" tIns="99060" rIns="0" bIns="0" rtlCol="0">
            <a:spAutoFit/>
          </a:bodyPr>
          <a:lstStyle/>
          <a:p>
            <a:pPr marL="469900" indent="-457200" algn="just">
              <a:lnSpc>
                <a:spcPct val="100000"/>
              </a:lnSpc>
              <a:spcBef>
                <a:spcPts val="780"/>
              </a:spcBef>
              <a:buFont typeface="Arial" panose="020B0604020202020204" pitchFamily="34" charset="0"/>
              <a:buChar char="•"/>
              <a:tabLst>
                <a:tab pos="527050" algn="l"/>
              </a:tabLst>
            </a:pPr>
            <a:r>
              <a:rPr lang="en-IN" sz="2000" dirty="0">
                <a:latin typeface="Times New Roman" panose="02020603050405020304" pitchFamily="18" charset="0"/>
                <a:cs typeface="Times New Roman" panose="02020603050405020304" pitchFamily="18" charset="0"/>
              </a:rPr>
              <a:t>To design a </a:t>
            </a:r>
            <a:r>
              <a:rPr lang="en-IN" sz="2000" b="1" dirty="0">
                <a:latin typeface="Times New Roman" panose="02020603050405020304" pitchFamily="18" charset="0"/>
                <a:cs typeface="Times New Roman" panose="02020603050405020304" pitchFamily="18" charset="0"/>
              </a:rPr>
              <a:t>hybrid Deformable Mixer Transformer (</a:t>
            </a:r>
            <a:r>
              <a:rPr lang="en-IN" sz="2000" b="1" dirty="0" err="1">
                <a:latin typeface="Times New Roman" panose="02020603050405020304" pitchFamily="18" charset="0"/>
                <a:cs typeface="Times New Roman" panose="02020603050405020304" pitchFamily="18" charset="0"/>
              </a:rPr>
              <a:t>DeMT</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architecture that effectively combines deformable convolutions and transformer attention for accurate multi-task dense prediction.</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To preprocess and organize the </a:t>
            </a:r>
            <a:r>
              <a:rPr lang="en-US" sz="2000" b="1" dirty="0">
                <a:latin typeface="Times New Roman" panose="02020603050405020304" pitchFamily="18" charset="0"/>
                <a:cs typeface="Times New Roman" panose="02020603050405020304" pitchFamily="18" charset="0"/>
              </a:rPr>
              <a:t>NYUD-v2 dataset</a:t>
            </a:r>
            <a:r>
              <a:rPr lang="en-US" sz="2000" dirty="0">
                <a:latin typeface="Times New Roman" panose="02020603050405020304" pitchFamily="18" charset="0"/>
                <a:cs typeface="Times New Roman" panose="02020603050405020304" pitchFamily="18" charset="0"/>
              </a:rPr>
              <a:t> into consistent RGB, depth, surface normal, and boundary maps suitable for multi-task training.</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To implement </a:t>
            </a:r>
            <a:r>
              <a:rPr lang="en-US" sz="2000" b="1" dirty="0">
                <a:latin typeface="Times New Roman" panose="02020603050405020304" pitchFamily="18" charset="0"/>
                <a:cs typeface="Times New Roman" panose="02020603050405020304" pitchFamily="18" charset="0"/>
              </a:rPr>
              <a:t>task-specific prediction heads</a:t>
            </a:r>
            <a:r>
              <a:rPr lang="en-US" sz="2000" dirty="0">
                <a:latin typeface="Times New Roman" panose="02020603050405020304" pitchFamily="18" charset="0"/>
                <a:cs typeface="Times New Roman" panose="02020603050405020304" pitchFamily="18" charset="0"/>
              </a:rPr>
              <a:t> supported by a balanced multi-task loss strategy that ensures fair learning across segmentation, depth, normals, and boundary detection tasks.</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To evaluate the model using </a:t>
            </a:r>
            <a:r>
              <a:rPr lang="en-US" sz="2000" b="1" dirty="0">
                <a:latin typeface="Times New Roman" panose="02020603050405020304" pitchFamily="18" charset="0"/>
                <a:cs typeface="Times New Roman" panose="02020603050405020304" pitchFamily="18" charset="0"/>
              </a:rPr>
              <a:t>standard quantitative metrics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visual qualitative outputs</a:t>
            </a:r>
            <a:r>
              <a:rPr lang="en-US" sz="2000" dirty="0">
                <a:latin typeface="Times New Roman" panose="02020603050405020304" pitchFamily="18" charset="0"/>
                <a:cs typeface="Times New Roman" panose="02020603050405020304" pitchFamily="18" charset="0"/>
              </a:rPr>
              <a:t> to verify improvements in accuracy, efficiency, and task interaction.</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9FD5E-C14F-D5BF-FD69-08A98A3E3E5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6955CDE-523E-1C89-4C8F-9C075D253F33}"/>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marL="3454400">
              <a:lnSpc>
                <a:spcPct val="100000"/>
              </a:lnSpc>
              <a:spcBef>
                <a:spcPts val="130"/>
              </a:spcBef>
            </a:pPr>
            <a:r>
              <a:rPr lang="en-IN" dirty="0"/>
              <a:t>NYUD-v2 Dataset Overview</a:t>
            </a:r>
            <a:endParaRPr spc="-10" dirty="0"/>
          </a:p>
        </p:txBody>
      </p:sp>
      <p:sp>
        <p:nvSpPr>
          <p:cNvPr id="4" name="object 4">
            <a:extLst>
              <a:ext uri="{FF2B5EF4-FFF2-40B4-BE49-F238E27FC236}">
                <a16:creationId xmlns:a16="http://schemas.microsoft.com/office/drawing/2014/main" id="{0CE8731D-AEE6-9444-162C-24F9BEB66270}"/>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6E8FF648-8FCB-0B91-1EA3-FA1CA92251A3}"/>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3A2C0408-D9F2-9C78-EFA3-63DBF078729E}"/>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046A3B22-7F51-9724-11B9-6BDBAE1975A9}"/>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3EBBA0DD-6BCE-ACEE-8233-84AD01288BD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14</a:t>
            </a:fld>
            <a:endParaRPr spc="-25" dirty="0"/>
          </a:p>
        </p:txBody>
      </p:sp>
      <p:sp>
        <p:nvSpPr>
          <p:cNvPr id="3" name="object 3">
            <a:extLst>
              <a:ext uri="{FF2B5EF4-FFF2-40B4-BE49-F238E27FC236}">
                <a16:creationId xmlns:a16="http://schemas.microsoft.com/office/drawing/2014/main" id="{11A8288D-EFD7-DBF2-F147-E30D45E1C742}"/>
              </a:ext>
            </a:extLst>
          </p:cNvPr>
          <p:cNvSpPr txBox="1"/>
          <p:nvPr/>
        </p:nvSpPr>
        <p:spPr>
          <a:xfrm>
            <a:off x="917575" y="1676400"/>
            <a:ext cx="10512425" cy="2151871"/>
          </a:xfrm>
          <a:prstGeom prst="rect">
            <a:avLst/>
          </a:prstGeom>
        </p:spPr>
        <p:txBody>
          <a:bodyPr vert="horz" wrap="square" lIns="0" tIns="99060" rIns="0" bIns="0" rtlCol="0">
            <a:spAutoFit/>
          </a:bodyPr>
          <a:lstStyle/>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NYUD-v2 is an indoor RGB-D dataset containing </a:t>
            </a:r>
            <a:r>
              <a:rPr lang="en-US" sz="2000" b="1" dirty="0">
                <a:latin typeface="Times New Roman" panose="02020603050405020304" pitchFamily="18" charset="0"/>
                <a:cs typeface="Times New Roman" panose="02020603050405020304" pitchFamily="18" charset="0"/>
              </a:rPr>
              <a:t>1,449 real-world scene images</a:t>
            </a:r>
            <a:r>
              <a:rPr lang="en-US" sz="2000" dirty="0">
                <a:latin typeface="Times New Roman" panose="02020603050405020304" pitchFamily="18" charset="0"/>
                <a:cs typeface="Times New Roman" panose="02020603050405020304" pitchFamily="18" charset="0"/>
              </a:rPr>
              <a:t> captured using depth sensors. </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The dataset includes diverse environments such as </a:t>
            </a:r>
            <a:r>
              <a:rPr lang="en-US" sz="2000" b="1" dirty="0">
                <a:latin typeface="Times New Roman" panose="02020603050405020304" pitchFamily="18" charset="0"/>
                <a:cs typeface="Times New Roman" panose="02020603050405020304" pitchFamily="18" charset="0"/>
              </a:rPr>
              <a:t>kitchens, offices, bedrooms, and living rooms</a:t>
            </a:r>
            <a:r>
              <a:rPr lang="en-US" sz="2000" dirty="0">
                <a:latin typeface="Times New Roman" panose="02020603050405020304" pitchFamily="18" charset="0"/>
                <a:cs typeface="Times New Roman" panose="02020603050405020304" pitchFamily="18" charset="0"/>
              </a:rPr>
              <a:t>.</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It provides suitable ground truth for </a:t>
            </a:r>
            <a:r>
              <a:rPr lang="en-US" sz="2000" b="1" dirty="0">
                <a:latin typeface="Times New Roman" panose="02020603050405020304" pitchFamily="18" charset="0"/>
                <a:cs typeface="Times New Roman" panose="02020603050405020304" pitchFamily="18" charset="0"/>
              </a:rPr>
              <a:t>multi-task dense prediction</a:t>
            </a:r>
            <a:r>
              <a:rPr lang="en-US" sz="2000" dirty="0">
                <a:latin typeface="Times New Roman" panose="02020603050405020304" pitchFamily="18" charset="0"/>
                <a:cs typeface="Times New Roman" panose="02020603050405020304" pitchFamily="18" charset="0"/>
              </a:rPr>
              <a:t>, making it ideal for evaluating unified models.</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2654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BB3E6-7445-B055-44A7-32EB873B9E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D48EDF-1162-5832-C84E-C7B31B89D87C}"/>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marL="3454400">
              <a:lnSpc>
                <a:spcPct val="100000"/>
              </a:lnSpc>
              <a:spcBef>
                <a:spcPts val="130"/>
              </a:spcBef>
            </a:pPr>
            <a:r>
              <a:rPr lang="en-IN" dirty="0"/>
              <a:t>Preprocessing – Step 1</a:t>
            </a:r>
            <a:endParaRPr spc="-10" dirty="0"/>
          </a:p>
        </p:txBody>
      </p:sp>
      <p:sp>
        <p:nvSpPr>
          <p:cNvPr id="4" name="object 4">
            <a:extLst>
              <a:ext uri="{FF2B5EF4-FFF2-40B4-BE49-F238E27FC236}">
                <a16:creationId xmlns:a16="http://schemas.microsoft.com/office/drawing/2014/main" id="{4017210D-F4A2-5B0F-C29C-42EA30D16BAB}"/>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A1A15178-94D8-206B-BF94-FE5C0D5B8823}"/>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C63E22BC-054E-BF1A-871B-259519D45338}"/>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39F6FD7B-D6FF-B7C2-B4A9-FD23970D1A58}"/>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6B890771-E4A1-0FB4-E14C-68CE644AD77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15</a:t>
            </a:fld>
            <a:endParaRPr spc="-25" dirty="0"/>
          </a:p>
        </p:txBody>
      </p:sp>
      <p:sp>
        <p:nvSpPr>
          <p:cNvPr id="3" name="object 3">
            <a:extLst>
              <a:ext uri="{FF2B5EF4-FFF2-40B4-BE49-F238E27FC236}">
                <a16:creationId xmlns:a16="http://schemas.microsoft.com/office/drawing/2014/main" id="{03DC05F7-F508-627A-3340-850051299D4C}"/>
              </a:ext>
            </a:extLst>
          </p:cNvPr>
          <p:cNvSpPr txBox="1"/>
          <p:nvPr/>
        </p:nvSpPr>
        <p:spPr>
          <a:xfrm>
            <a:off x="917575" y="1676400"/>
            <a:ext cx="10512425" cy="1844095"/>
          </a:xfrm>
          <a:prstGeom prst="rect">
            <a:avLst/>
          </a:prstGeom>
        </p:spPr>
        <p:txBody>
          <a:bodyPr vert="horz" wrap="square" lIns="0" tIns="99060" rIns="0" bIns="0" rtlCol="0">
            <a:spAutoFit/>
          </a:bodyPr>
          <a:lstStyle/>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All RGB and depth images are </a:t>
            </a:r>
            <a:r>
              <a:rPr lang="en-US" sz="2000" b="1" dirty="0">
                <a:latin typeface="Times New Roman" panose="02020603050405020304" pitchFamily="18" charset="0"/>
                <a:cs typeface="Times New Roman" panose="02020603050405020304" pitchFamily="18" charset="0"/>
              </a:rPr>
              <a:t>cropped and resized to a fixed resolution of 224 × 224</a:t>
            </a:r>
            <a:r>
              <a:rPr lang="en-US" sz="2000" dirty="0">
                <a:latin typeface="Times New Roman" panose="02020603050405020304" pitchFamily="18" charset="0"/>
                <a:cs typeface="Times New Roman" panose="02020603050405020304" pitchFamily="18" charset="0"/>
              </a:rPr>
              <a:t> to maintain spatial consistency.</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RGB images are normalized using </a:t>
            </a:r>
            <a:r>
              <a:rPr lang="en-US" sz="2000" b="1" dirty="0">
                <a:latin typeface="Times New Roman" panose="02020603050405020304" pitchFamily="18" charset="0"/>
                <a:cs typeface="Times New Roman" panose="02020603050405020304" pitchFamily="18" charset="0"/>
              </a:rPr>
              <a:t>ImageNet mean and standard deviation</a:t>
            </a:r>
            <a:r>
              <a:rPr lang="en-US" sz="2000" dirty="0">
                <a:latin typeface="Times New Roman" panose="02020603050405020304" pitchFamily="18" charset="0"/>
                <a:cs typeface="Times New Roman" panose="02020603050405020304" pitchFamily="18" charset="0"/>
              </a:rPr>
              <a:t> to match pretrained backbone requirements.</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This step ensures stable and efficient batch-wise training.</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435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D7F8-C0D2-5FBE-74A5-5C735CB7E5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10DE75-2023-4769-57D2-D7DB40D005E3}"/>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marL="3454400">
              <a:lnSpc>
                <a:spcPct val="100000"/>
              </a:lnSpc>
              <a:spcBef>
                <a:spcPts val="130"/>
              </a:spcBef>
            </a:pPr>
            <a:r>
              <a:rPr lang="en-IN" dirty="0"/>
              <a:t>Preprocessing – Step 2</a:t>
            </a:r>
            <a:endParaRPr spc="-10" dirty="0"/>
          </a:p>
        </p:txBody>
      </p:sp>
      <p:sp>
        <p:nvSpPr>
          <p:cNvPr id="4" name="object 4">
            <a:extLst>
              <a:ext uri="{FF2B5EF4-FFF2-40B4-BE49-F238E27FC236}">
                <a16:creationId xmlns:a16="http://schemas.microsoft.com/office/drawing/2014/main" id="{698DDCD2-CD9C-837D-9615-2E981A58140A}"/>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505E0DCE-E3CF-57C6-E407-AB9782CB03C3}"/>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604392DC-C390-0E15-B437-AC0AD858FD5E}"/>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43164E36-715B-9675-E09F-10AF257005E5}"/>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ABA80E34-5AF2-5499-8DFA-CA78F20A2F5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16</a:t>
            </a:fld>
            <a:endParaRPr spc="-25" dirty="0"/>
          </a:p>
        </p:txBody>
      </p:sp>
      <p:sp>
        <p:nvSpPr>
          <p:cNvPr id="3" name="object 3">
            <a:extLst>
              <a:ext uri="{FF2B5EF4-FFF2-40B4-BE49-F238E27FC236}">
                <a16:creationId xmlns:a16="http://schemas.microsoft.com/office/drawing/2014/main" id="{65B6CD07-76C9-6462-0992-C0CF6F1C9B1D}"/>
              </a:ext>
            </a:extLst>
          </p:cNvPr>
          <p:cNvSpPr txBox="1"/>
          <p:nvPr/>
        </p:nvSpPr>
        <p:spPr>
          <a:xfrm>
            <a:off x="917575" y="1676400"/>
            <a:ext cx="10512425" cy="1228541"/>
          </a:xfrm>
          <a:prstGeom prst="rect">
            <a:avLst/>
          </a:prstGeom>
        </p:spPr>
        <p:txBody>
          <a:bodyPr vert="horz" wrap="square" lIns="0" tIns="99060" rIns="0" bIns="0" rtlCol="0">
            <a:spAutoFit/>
          </a:bodyPr>
          <a:lstStyle/>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Segmentation masks are generated to identify semantic regions within the scene.</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Depth gradients are used to compute </a:t>
            </a:r>
            <a:r>
              <a:rPr lang="en-US" sz="2000" b="1" dirty="0">
                <a:latin typeface="Times New Roman" panose="02020603050405020304" pitchFamily="18" charset="0"/>
                <a:cs typeface="Times New Roman" panose="02020603050405020304" pitchFamily="18" charset="0"/>
              </a:rPr>
              <a:t>surface normal maps</a:t>
            </a:r>
            <a:r>
              <a:rPr lang="en-US" sz="2000" dirty="0">
                <a:latin typeface="Times New Roman" panose="02020603050405020304" pitchFamily="18" charset="0"/>
                <a:cs typeface="Times New Roman" panose="02020603050405020304" pitchFamily="18" charset="0"/>
              </a:rPr>
              <a:t>, capturing geometric orientation.</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Edge detection techniques are applied to derive </a:t>
            </a:r>
            <a:r>
              <a:rPr lang="en-US" sz="2000" b="1" dirty="0">
                <a:latin typeface="Times New Roman" panose="02020603050405020304" pitchFamily="18" charset="0"/>
                <a:cs typeface="Times New Roman" panose="02020603050405020304" pitchFamily="18" charset="0"/>
              </a:rPr>
              <a:t>boundary maps</a:t>
            </a:r>
            <a:r>
              <a:rPr lang="en-US" sz="2000" dirty="0">
                <a:latin typeface="Times New Roman" panose="02020603050405020304" pitchFamily="18" charset="0"/>
                <a:cs typeface="Times New Roman" panose="02020603050405020304" pitchFamily="18" charset="0"/>
              </a:rPr>
              <a:t>, highlighting object contours.</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544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9720" rIns="0" bIns="0" rtlCol="0">
            <a:spAutoFit/>
          </a:bodyPr>
          <a:lstStyle/>
          <a:p>
            <a:pPr marL="360045">
              <a:lnSpc>
                <a:spcPct val="100000"/>
              </a:lnSpc>
              <a:spcBef>
                <a:spcPts val="130"/>
              </a:spcBef>
            </a:pPr>
            <a:r>
              <a:rPr sz="3950" dirty="0"/>
              <a:t>BLOCK</a:t>
            </a:r>
            <a:r>
              <a:rPr sz="3950" spc="60" dirty="0"/>
              <a:t> </a:t>
            </a:r>
            <a:r>
              <a:rPr sz="3950" dirty="0"/>
              <a:t>DIAGRAM</a:t>
            </a:r>
            <a:r>
              <a:rPr sz="3950" spc="90" dirty="0"/>
              <a:t> </a:t>
            </a:r>
            <a:r>
              <a:rPr sz="3950" dirty="0"/>
              <a:t>OR</a:t>
            </a:r>
            <a:r>
              <a:rPr sz="3950" spc="70" dirty="0"/>
              <a:t> </a:t>
            </a:r>
            <a:r>
              <a:rPr sz="3950" dirty="0"/>
              <a:t>FLOW</a:t>
            </a:r>
            <a:r>
              <a:rPr sz="3950" spc="-60" dirty="0"/>
              <a:t> </a:t>
            </a:r>
            <a:r>
              <a:rPr sz="3950" spc="-10" dirty="0"/>
              <a:t>DIAGRAM</a:t>
            </a:r>
            <a:endParaRPr sz="395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733800" y="6451049"/>
            <a:ext cx="14544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029200" y="6451049"/>
            <a:ext cx="1120473"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17</a:t>
            </a:fld>
            <a:endParaRPr spc="-25" dirty="0"/>
          </a:p>
        </p:txBody>
      </p:sp>
      <p:pic>
        <p:nvPicPr>
          <p:cNvPr id="10" name="Picture 9">
            <a:extLst>
              <a:ext uri="{FF2B5EF4-FFF2-40B4-BE49-F238E27FC236}">
                <a16:creationId xmlns:a16="http://schemas.microsoft.com/office/drawing/2014/main" id="{A4E8A2BA-7A8F-E446-C685-F27F12C4C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371600"/>
            <a:ext cx="7696200" cy="4800600"/>
          </a:xfrm>
          <a:prstGeom prst="rect">
            <a:avLst/>
          </a:prstGeom>
        </p:spPr>
      </p:pic>
      <p:pic>
        <p:nvPicPr>
          <p:cNvPr id="12" name="Picture 11">
            <a:extLst>
              <a:ext uri="{FF2B5EF4-FFF2-40B4-BE49-F238E27FC236}">
                <a16:creationId xmlns:a16="http://schemas.microsoft.com/office/drawing/2014/main" id="{77045327-4150-CDBD-18B3-F28E337842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1011" y="3962400"/>
            <a:ext cx="1716389" cy="6858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733800" y="6451049"/>
            <a:ext cx="14544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18</a:t>
            </a:fld>
            <a:endParaRPr spc="-25" dirty="0"/>
          </a:p>
        </p:txBody>
      </p:sp>
      <p:sp>
        <p:nvSpPr>
          <p:cNvPr id="3" name="object 3"/>
          <p:cNvSpPr txBox="1"/>
          <p:nvPr/>
        </p:nvSpPr>
        <p:spPr>
          <a:xfrm>
            <a:off x="1286192" y="1551879"/>
            <a:ext cx="6377960" cy="4706225"/>
          </a:xfrm>
          <a:prstGeom prst="rect">
            <a:avLst/>
          </a:prstGeom>
        </p:spPr>
        <p:txBody>
          <a:bodyPr vert="horz" wrap="square" lIns="0" tIns="60960" rIns="0" bIns="0" rtlCol="0">
            <a:spAutoFit/>
          </a:bodyPr>
          <a:lstStyle/>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Loaded NYUD-v2 and extracted </a:t>
            </a:r>
            <a:r>
              <a:rPr lang="en-US" sz="2000" b="1" dirty="0">
                <a:latin typeface="Times New Roman" panose="02020603050405020304" pitchFamily="18" charset="0"/>
                <a:cs typeface="Times New Roman" panose="02020603050405020304" pitchFamily="18" charset="0"/>
              </a:rPr>
              <a:t>RGB, Depth, Normals</a:t>
            </a:r>
            <a:r>
              <a:rPr lang="en-US" sz="2000" dirty="0">
                <a:latin typeface="Times New Roman" panose="02020603050405020304" pitchFamily="18" charset="0"/>
                <a:cs typeface="Times New Roman" panose="02020603050405020304" pitchFamily="18" charset="0"/>
              </a:rPr>
              <a:t>.</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Resized all inputs to </a:t>
            </a:r>
            <a:r>
              <a:rPr lang="en-US" sz="2000" b="1" dirty="0">
                <a:latin typeface="Times New Roman" panose="02020603050405020304" pitchFamily="18" charset="0"/>
                <a:cs typeface="Times New Roman" panose="02020603050405020304" pitchFamily="18" charset="0"/>
              </a:rPr>
              <a:t>224 × 224</a:t>
            </a:r>
            <a:r>
              <a:rPr lang="en-US" sz="2000" dirty="0">
                <a:latin typeface="Times New Roman" panose="02020603050405020304" pitchFamily="18" charset="0"/>
                <a:cs typeface="Times New Roman" panose="02020603050405020304" pitchFamily="18" charset="0"/>
              </a:rPr>
              <a:t>.</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Applied </a:t>
            </a:r>
            <a:r>
              <a:rPr lang="en-US" sz="2000" b="1" dirty="0">
                <a:latin typeface="Times New Roman" panose="02020603050405020304" pitchFamily="18" charset="0"/>
                <a:cs typeface="Times New Roman" panose="02020603050405020304" pitchFamily="18" charset="0"/>
              </a:rPr>
              <a:t>ImageNet normalization</a:t>
            </a:r>
            <a:r>
              <a:rPr lang="en-US" sz="2000" dirty="0">
                <a:latin typeface="Times New Roman" panose="02020603050405020304" pitchFamily="18" charset="0"/>
                <a:cs typeface="Times New Roman" panose="02020603050405020304" pitchFamily="18" charset="0"/>
              </a:rPr>
              <a:t> to RGB.</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Generated </a:t>
            </a:r>
            <a:r>
              <a:rPr lang="en-US" sz="2000" b="1" dirty="0">
                <a:latin typeface="Times New Roman" panose="02020603050405020304" pitchFamily="18" charset="0"/>
                <a:cs typeface="Times New Roman" panose="02020603050405020304" pitchFamily="18" charset="0"/>
              </a:rPr>
              <a:t>Segmentation Mask</a:t>
            </a:r>
            <a:r>
              <a:rPr lang="en-US" sz="2000" dirty="0">
                <a:latin typeface="Times New Roman" panose="02020603050405020304" pitchFamily="18" charset="0"/>
                <a:cs typeface="Times New Roman" panose="02020603050405020304" pitchFamily="18" charset="0"/>
              </a:rPr>
              <a:t> using K-Means clustering.</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Computed </a:t>
            </a:r>
            <a:r>
              <a:rPr lang="en-US" sz="2000" b="1" dirty="0">
                <a:latin typeface="Times New Roman" panose="02020603050405020304" pitchFamily="18" charset="0"/>
                <a:cs typeface="Times New Roman" panose="02020603050405020304" pitchFamily="18" charset="0"/>
              </a:rPr>
              <a:t>Surface Normals</a:t>
            </a:r>
            <a:r>
              <a:rPr lang="en-US" sz="2000" dirty="0">
                <a:latin typeface="Times New Roman" panose="02020603050405020304" pitchFamily="18" charset="0"/>
                <a:cs typeface="Times New Roman" panose="02020603050405020304" pitchFamily="18" charset="0"/>
              </a:rPr>
              <a:t> from depth gradients.</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Created </a:t>
            </a:r>
            <a:r>
              <a:rPr lang="en-US" sz="2000" b="1" dirty="0">
                <a:latin typeface="Times New Roman" panose="02020603050405020304" pitchFamily="18" charset="0"/>
                <a:cs typeface="Times New Roman" panose="02020603050405020304" pitchFamily="18" charset="0"/>
              </a:rPr>
              <a:t>Boundary Map</a:t>
            </a:r>
            <a:r>
              <a:rPr lang="en-US" sz="2000" dirty="0">
                <a:latin typeface="Times New Roman" panose="02020603050405020304" pitchFamily="18" charset="0"/>
                <a:cs typeface="Times New Roman" panose="02020603050405020304" pitchFamily="18" charset="0"/>
              </a:rPr>
              <a:t> using Sobel/Canny edges.</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Prepared Data for the Backbone : </a:t>
            </a:r>
            <a:r>
              <a:rPr lang="en-US" sz="2000" b="1" dirty="0">
                <a:latin typeface="Times New Roman" panose="02020603050405020304" pitchFamily="18" charset="0"/>
                <a:cs typeface="Times New Roman" panose="02020603050405020304" pitchFamily="18" charset="0"/>
              </a:rPr>
              <a:t>DeepLabV3 +ResNet-101</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Saved all outputs as </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npz</a:t>
            </a:r>
            <a:r>
              <a:rPr lang="en-US" sz="2000" b="1" dirty="0">
                <a:latin typeface="Times New Roman" panose="02020603050405020304" pitchFamily="18" charset="0"/>
                <a:cs typeface="Times New Roman" panose="02020603050405020304" pitchFamily="18" charset="0"/>
              </a:rPr>
              <a:t> files</a:t>
            </a:r>
            <a:r>
              <a:rPr lang="en-US" sz="2000" dirty="0">
                <a:latin typeface="Times New Roman" panose="02020603050405020304" pitchFamily="18" charset="0"/>
                <a:cs typeface="Times New Roman" panose="02020603050405020304" pitchFamily="18" charset="0"/>
              </a:rPr>
              <a:t> for fast training.</a:t>
            </a:r>
          </a:p>
        </p:txBody>
      </p:sp>
      <p:pic>
        <p:nvPicPr>
          <p:cNvPr id="11" name="Picture 10">
            <a:extLst>
              <a:ext uri="{FF2B5EF4-FFF2-40B4-BE49-F238E27FC236}">
                <a16:creationId xmlns:a16="http://schemas.microsoft.com/office/drawing/2014/main" id="{F42D1144-CDB8-D9CD-D0CC-1B598FF65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0787" y="1371600"/>
            <a:ext cx="4364735" cy="4648200"/>
          </a:xfrm>
          <a:prstGeom prst="rect">
            <a:avLst/>
          </a:prstGeom>
        </p:spPr>
      </p:pic>
      <p:sp>
        <p:nvSpPr>
          <p:cNvPr id="12" name="TextBox 11">
            <a:extLst>
              <a:ext uri="{FF2B5EF4-FFF2-40B4-BE49-F238E27FC236}">
                <a16:creationId xmlns:a16="http://schemas.microsoft.com/office/drawing/2014/main" id="{340731A6-BE5F-6E42-4AB4-39AAA3DDB6D3}"/>
              </a:ext>
            </a:extLst>
          </p:cNvPr>
          <p:cNvSpPr txBox="1"/>
          <p:nvPr/>
        </p:nvSpPr>
        <p:spPr>
          <a:xfrm>
            <a:off x="1132332" y="1084781"/>
            <a:ext cx="6061587" cy="523220"/>
          </a:xfrm>
          <a:prstGeom prst="rect">
            <a:avLst/>
          </a:prstGeom>
          <a:noFill/>
        </p:spPr>
        <p:txBody>
          <a:bodyPr wrap="square" rtlCol="0">
            <a:spAutoFit/>
          </a:bodyPr>
          <a:lstStyle/>
          <a:p>
            <a:r>
              <a:rPr lang="en-IN" sz="2800" b="1" i="1" u="sng" dirty="0">
                <a:latin typeface="Times New Roman" panose="02020603050405020304" pitchFamily="18" charset="0"/>
                <a:cs typeface="Times New Roman" panose="02020603050405020304" pitchFamily="18" charset="0"/>
              </a:rPr>
              <a:t>Preprocessing: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434D7-EF8B-0F5F-D4E5-B10931DB6C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62F496-EC00-9777-15DD-74E038455A8F}"/>
              </a:ext>
            </a:extLst>
          </p:cNvPr>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a:extLst>
              <a:ext uri="{FF2B5EF4-FFF2-40B4-BE49-F238E27FC236}">
                <a16:creationId xmlns:a16="http://schemas.microsoft.com/office/drawing/2014/main" id="{B54A16C4-D3AA-B385-C75F-14C4CB1187E8}"/>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62D6ADCB-1ECE-9250-58FD-E6E6602D00AD}"/>
              </a:ext>
            </a:extLst>
          </p:cNvPr>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62E3D1FD-95BE-B891-DF8D-8F0125455D9D}"/>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85B08728-B89B-DA49-C038-8E0BF2CF26EF}"/>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27312ED7-9659-EB45-3DF2-AF78153B1382}"/>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19</a:t>
            </a:fld>
            <a:endParaRPr spc="-25" dirty="0"/>
          </a:p>
        </p:txBody>
      </p:sp>
      <p:sp>
        <p:nvSpPr>
          <p:cNvPr id="3" name="object 3">
            <a:extLst>
              <a:ext uri="{FF2B5EF4-FFF2-40B4-BE49-F238E27FC236}">
                <a16:creationId xmlns:a16="http://schemas.microsoft.com/office/drawing/2014/main" id="{47C102D7-24DB-BC36-21BD-9CAE999815A1}"/>
              </a:ext>
            </a:extLst>
          </p:cNvPr>
          <p:cNvSpPr txBox="1"/>
          <p:nvPr/>
        </p:nvSpPr>
        <p:spPr>
          <a:xfrm>
            <a:off x="5867400" y="1905000"/>
            <a:ext cx="6023082" cy="3616183"/>
          </a:xfrm>
          <a:prstGeom prst="rect">
            <a:avLst/>
          </a:prstGeom>
        </p:spPr>
        <p:txBody>
          <a:bodyPr vert="horz" wrap="square" lIns="0" tIns="60960" rIns="0" bIns="0" rtlCol="0">
            <a:spAutoFit/>
          </a:bodyPr>
          <a:lstStyle/>
          <a:p>
            <a:pPr marL="241300" marR="290195" indent="-229235">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Input Image</a:t>
            </a:r>
            <a:r>
              <a:rPr lang="en-US" sz="2000" dirty="0">
                <a:latin typeface="Times New Roman" panose="02020603050405020304" pitchFamily="18" charset="0"/>
                <a:cs typeface="Times New Roman" panose="02020603050405020304" pitchFamily="18" charset="0"/>
              </a:rPr>
              <a:t> is passed into the </a:t>
            </a:r>
            <a:r>
              <a:rPr lang="en-US" sz="2000" b="1" dirty="0">
                <a:latin typeface="Times New Roman" panose="02020603050405020304" pitchFamily="18" charset="0"/>
                <a:cs typeface="Times New Roman" panose="02020603050405020304" pitchFamily="18" charset="0"/>
              </a:rPr>
              <a:t>Deformable Mixer Encoder</a:t>
            </a:r>
            <a:r>
              <a:rPr lang="en-US" sz="2000" dirty="0">
                <a:latin typeface="Times New Roman" panose="02020603050405020304" pitchFamily="18" charset="0"/>
                <a:cs typeface="Times New Roman" panose="02020603050405020304" pitchFamily="18" charset="0"/>
              </a:rPr>
              <a:t> to extract adaptive local and spatially flexible features</a:t>
            </a:r>
          </a:p>
          <a:p>
            <a:pPr marL="241300" marR="290195" indent="-229235">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Extracted features are forwarded into the </a:t>
            </a:r>
            <a:r>
              <a:rPr lang="en-US" sz="2000" b="1" dirty="0">
                <a:latin typeface="Times New Roman" panose="02020603050405020304" pitchFamily="18" charset="0"/>
                <a:cs typeface="Times New Roman" panose="02020603050405020304" pitchFamily="18" charset="0"/>
              </a:rPr>
              <a:t>Task Interaction Block</a:t>
            </a:r>
            <a:r>
              <a:rPr lang="en-US" sz="2000" dirty="0">
                <a:latin typeface="Times New Roman" panose="02020603050405020304" pitchFamily="18" charset="0"/>
                <a:cs typeface="Times New Roman" panose="02020603050405020304" pitchFamily="18" charset="0"/>
              </a:rPr>
              <a:t>, which enables communication and shared learning between tasks.</a:t>
            </a:r>
          </a:p>
          <a:p>
            <a:pPr marL="241300" marR="290195" indent="-229235">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Each head computes its own </a:t>
            </a:r>
            <a:r>
              <a:rPr lang="en-US" sz="2000" b="1" dirty="0">
                <a:latin typeface="Times New Roman" panose="02020603050405020304" pitchFamily="18" charset="0"/>
                <a:cs typeface="Times New Roman" panose="02020603050405020304" pitchFamily="18" charset="0"/>
              </a:rPr>
              <a:t>task-specific loss</a:t>
            </a:r>
            <a:r>
              <a:rPr lang="en-US" sz="2000" dirty="0">
                <a:latin typeface="Times New Roman" panose="02020603050405020304" pitchFamily="18" charset="0"/>
                <a:cs typeface="Times New Roman" panose="02020603050405020304" pitchFamily="18" charset="0"/>
              </a:rPr>
              <a:t>, and all losses are combined to form the </a:t>
            </a:r>
            <a:r>
              <a:rPr lang="en-US" sz="2000" b="1" dirty="0">
                <a:latin typeface="Times New Roman" panose="02020603050405020304" pitchFamily="18" charset="0"/>
                <a:cs typeface="Times New Roman" panose="02020603050405020304" pitchFamily="18" charset="0"/>
              </a:rPr>
              <a:t>Total Multi-Task Loss</a:t>
            </a:r>
            <a:r>
              <a:rPr lang="en-US" sz="2000" dirty="0">
                <a:latin typeface="Times New Roman" panose="02020603050405020304" pitchFamily="18" charset="0"/>
                <a:cs typeface="Times New Roman" panose="02020603050405020304" pitchFamily="18" charset="0"/>
              </a:rPr>
              <a:t>.</a:t>
            </a:r>
          </a:p>
        </p:txBody>
      </p:sp>
      <p:pic>
        <p:nvPicPr>
          <p:cNvPr id="13" name="Picture 12">
            <a:extLst>
              <a:ext uri="{FF2B5EF4-FFF2-40B4-BE49-F238E27FC236}">
                <a16:creationId xmlns:a16="http://schemas.microsoft.com/office/drawing/2014/main" id="{361AC69B-4678-62F8-5262-52BD1AA94F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1371600"/>
            <a:ext cx="5257800" cy="4724400"/>
          </a:xfrm>
          <a:prstGeom prst="rect">
            <a:avLst/>
          </a:prstGeom>
        </p:spPr>
      </p:pic>
    </p:spTree>
    <p:extLst>
      <p:ext uri="{BB962C8B-B14F-4D97-AF65-F5344CB8AC3E}">
        <p14:creationId xmlns:p14="http://schemas.microsoft.com/office/powerpoint/2010/main" val="674984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1C484-CD3E-C136-D0A2-DBC920D562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047872-0296-19BA-10BB-633833C0E099}"/>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algn="ctr"/>
            <a:r>
              <a:rPr lang="en-US" dirty="0"/>
              <a:t>Deformable Mixer Encoder</a:t>
            </a:r>
          </a:p>
        </p:txBody>
      </p:sp>
      <p:sp>
        <p:nvSpPr>
          <p:cNvPr id="4" name="object 4">
            <a:extLst>
              <a:ext uri="{FF2B5EF4-FFF2-40B4-BE49-F238E27FC236}">
                <a16:creationId xmlns:a16="http://schemas.microsoft.com/office/drawing/2014/main" id="{4D8B155C-2FCC-2C82-445D-8F9530161AEA}"/>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1EC60746-019E-D36B-34CC-ED187816E3B7}"/>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75FE1A70-2B4F-1543-AC09-AECECD2E2BF5}"/>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6D668704-6C23-D920-AD1D-E22D92F92DA9}"/>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8BD72F4F-079C-5455-F9B7-8E1375EB841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20</a:t>
            </a:fld>
            <a:endParaRPr spc="-25" dirty="0"/>
          </a:p>
        </p:txBody>
      </p:sp>
      <p:sp>
        <p:nvSpPr>
          <p:cNvPr id="3" name="object 3">
            <a:extLst>
              <a:ext uri="{FF2B5EF4-FFF2-40B4-BE49-F238E27FC236}">
                <a16:creationId xmlns:a16="http://schemas.microsoft.com/office/drawing/2014/main" id="{036779D4-EA01-1D5B-E537-915B0B749CCD}"/>
              </a:ext>
            </a:extLst>
          </p:cNvPr>
          <p:cNvSpPr txBox="1"/>
          <p:nvPr/>
        </p:nvSpPr>
        <p:spPr>
          <a:xfrm>
            <a:off x="917575" y="1676400"/>
            <a:ext cx="10512425" cy="1946687"/>
          </a:xfrm>
          <a:prstGeom prst="rect">
            <a:avLst/>
          </a:prstGeom>
        </p:spPr>
        <p:txBody>
          <a:bodyPr vert="horz" wrap="square" lIns="0" tIns="99060" rIns="0" bIns="0"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encoder employs deformable convolutions to dynamically adjust </a:t>
            </a:r>
            <a:r>
              <a:rPr lang="en-US" sz="2000" b="1" dirty="0">
                <a:latin typeface="Times New Roman" panose="02020603050405020304" pitchFamily="18" charset="0"/>
                <a:cs typeface="Times New Roman" panose="02020603050405020304" pitchFamily="18" charset="0"/>
              </a:rPr>
              <a:t>sampling locations</a:t>
            </a:r>
            <a:r>
              <a:rPr lang="en-US" sz="2000" dirty="0">
                <a:latin typeface="Times New Roman" panose="02020603050405020304" pitchFamily="18" charset="0"/>
                <a:cs typeface="Times New Roman" panose="02020603050405020304" pitchFamily="18" charset="0"/>
              </a:rPr>
              <a:t> based on feature importance.</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allows the network to focus on </a:t>
            </a:r>
            <a:r>
              <a:rPr lang="en-US" sz="2000" b="1" dirty="0">
                <a:latin typeface="Times New Roman" panose="02020603050405020304" pitchFamily="18" charset="0"/>
                <a:cs typeface="Times New Roman" panose="02020603050405020304" pitchFamily="18" charset="0"/>
              </a:rPr>
              <a:t>irregular object shapes and fine spatial details</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encoder enhances feature alignment before task-specific decoding.</a:t>
            </a:r>
          </a:p>
        </p:txBody>
      </p:sp>
    </p:spTree>
    <p:extLst>
      <p:ext uri="{BB962C8B-B14F-4D97-AF65-F5344CB8AC3E}">
        <p14:creationId xmlns:p14="http://schemas.microsoft.com/office/powerpoint/2010/main" val="833400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A008-EF06-E4BC-8D18-D04B869B6B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66E997-287B-BC0B-370A-3CB6DB4F0498}"/>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algn="ctr"/>
            <a:r>
              <a:rPr lang="en-US" dirty="0"/>
              <a:t>Task Interaction Block</a:t>
            </a:r>
          </a:p>
        </p:txBody>
      </p:sp>
      <p:sp>
        <p:nvSpPr>
          <p:cNvPr id="4" name="object 4">
            <a:extLst>
              <a:ext uri="{FF2B5EF4-FFF2-40B4-BE49-F238E27FC236}">
                <a16:creationId xmlns:a16="http://schemas.microsoft.com/office/drawing/2014/main" id="{F0CF2975-0552-3573-0448-4AE9B9265643}"/>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746BD4FA-D582-3BED-53DC-A75B30AC2E42}"/>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0EAB2A8C-E05C-DA81-2412-AB14041DAA28}"/>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741C6093-3563-EE9E-20DE-CBD417881CED}"/>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CC99A485-D8CB-64B1-EBCD-1BB4A5D16E2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21</a:t>
            </a:fld>
            <a:endParaRPr spc="-25" dirty="0"/>
          </a:p>
        </p:txBody>
      </p:sp>
      <p:sp>
        <p:nvSpPr>
          <p:cNvPr id="3" name="object 3">
            <a:extLst>
              <a:ext uri="{FF2B5EF4-FFF2-40B4-BE49-F238E27FC236}">
                <a16:creationId xmlns:a16="http://schemas.microsoft.com/office/drawing/2014/main" id="{7E1F7497-F61D-2F08-B102-D730ADF20F69}"/>
              </a:ext>
            </a:extLst>
          </p:cNvPr>
          <p:cNvSpPr txBox="1"/>
          <p:nvPr/>
        </p:nvSpPr>
        <p:spPr>
          <a:xfrm>
            <a:off x="917575" y="1600200"/>
            <a:ext cx="10512425" cy="1331134"/>
          </a:xfrm>
          <a:prstGeom prst="rect">
            <a:avLst/>
          </a:prstGeom>
        </p:spPr>
        <p:txBody>
          <a:bodyPr vert="horz" wrap="square" lIns="0" tIns="99060" rIns="0" bIns="0"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task interaction block facilitates </a:t>
            </a:r>
            <a:r>
              <a:rPr lang="en-US" sz="2000" b="1" dirty="0">
                <a:latin typeface="Times New Roman" panose="02020603050405020304" pitchFamily="18" charset="0"/>
                <a:cs typeface="Times New Roman" panose="02020603050405020304" pitchFamily="18" charset="0"/>
              </a:rPr>
              <a:t>controlled information exchange</a:t>
            </a:r>
            <a:r>
              <a:rPr lang="en-US" sz="2000" dirty="0">
                <a:latin typeface="Times New Roman" panose="02020603050405020304" pitchFamily="18" charset="0"/>
                <a:cs typeface="Times New Roman" panose="02020603050405020304" pitchFamily="18" charset="0"/>
              </a:rPr>
              <a:t> between different task representations.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allows related tasks to reinforce each other while avoiding interference from unrelated features.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improves coherence across multi-task predictions.</a:t>
            </a:r>
          </a:p>
        </p:txBody>
      </p:sp>
    </p:spTree>
    <p:extLst>
      <p:ext uri="{BB962C8B-B14F-4D97-AF65-F5344CB8AC3E}">
        <p14:creationId xmlns:p14="http://schemas.microsoft.com/office/powerpoint/2010/main" val="249409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842EC-3B65-4DB7-07D7-94A824DBB8A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A8FAFB-6B81-A984-1D17-6D947DA0DBBA}"/>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algn="ctr"/>
            <a:r>
              <a:rPr lang="en-US" dirty="0"/>
              <a:t>Task Interaction Block</a:t>
            </a:r>
          </a:p>
        </p:txBody>
      </p:sp>
      <p:sp>
        <p:nvSpPr>
          <p:cNvPr id="4" name="object 4">
            <a:extLst>
              <a:ext uri="{FF2B5EF4-FFF2-40B4-BE49-F238E27FC236}">
                <a16:creationId xmlns:a16="http://schemas.microsoft.com/office/drawing/2014/main" id="{05D577A8-E392-C81F-7403-C2FF54240468}"/>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AB8B20C5-E1EF-A265-AC6A-495D8C865E68}"/>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8F508B80-AC22-1934-F651-1ABA718EC312}"/>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509FCE5F-F3BD-0053-E692-E2028412388A}"/>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BF50CE2E-C704-74A4-B54E-783B6246E5D9}"/>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22</a:t>
            </a:fld>
            <a:endParaRPr spc="-25" dirty="0"/>
          </a:p>
        </p:txBody>
      </p:sp>
      <p:sp>
        <p:nvSpPr>
          <p:cNvPr id="3" name="object 3">
            <a:extLst>
              <a:ext uri="{FF2B5EF4-FFF2-40B4-BE49-F238E27FC236}">
                <a16:creationId xmlns:a16="http://schemas.microsoft.com/office/drawing/2014/main" id="{7105485F-32BD-9031-8B48-8D85D499CF0D}"/>
              </a:ext>
            </a:extLst>
          </p:cNvPr>
          <p:cNvSpPr txBox="1"/>
          <p:nvPr/>
        </p:nvSpPr>
        <p:spPr>
          <a:xfrm>
            <a:off x="917575" y="1600200"/>
            <a:ext cx="10512425" cy="1331134"/>
          </a:xfrm>
          <a:prstGeom prst="rect">
            <a:avLst/>
          </a:prstGeom>
        </p:spPr>
        <p:txBody>
          <a:bodyPr vert="horz" wrap="square" lIns="0" tIns="99060" rIns="0" bIns="0"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task interaction block facilitates </a:t>
            </a:r>
            <a:r>
              <a:rPr lang="en-US" sz="2000" b="1" dirty="0">
                <a:latin typeface="Times New Roman" panose="02020603050405020304" pitchFamily="18" charset="0"/>
                <a:cs typeface="Times New Roman" panose="02020603050405020304" pitchFamily="18" charset="0"/>
              </a:rPr>
              <a:t>controlled information exchange</a:t>
            </a:r>
            <a:r>
              <a:rPr lang="en-US" sz="2000" dirty="0">
                <a:latin typeface="Times New Roman" panose="02020603050405020304" pitchFamily="18" charset="0"/>
                <a:cs typeface="Times New Roman" panose="02020603050405020304" pitchFamily="18" charset="0"/>
              </a:rPr>
              <a:t> between different task representations.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allows related tasks to reinforce each other while avoiding interference from unrelated features.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improves coherence across multi-task predictions.</a:t>
            </a:r>
          </a:p>
        </p:txBody>
      </p:sp>
    </p:spTree>
    <p:extLst>
      <p:ext uri="{BB962C8B-B14F-4D97-AF65-F5344CB8AC3E}">
        <p14:creationId xmlns:p14="http://schemas.microsoft.com/office/powerpoint/2010/main" val="3261522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595880">
              <a:lnSpc>
                <a:spcPct val="100000"/>
              </a:lnSpc>
              <a:spcBef>
                <a:spcPts val="130"/>
              </a:spcBef>
            </a:pPr>
            <a:r>
              <a:rPr spc="-45" dirty="0"/>
              <a:t>IMPLEMENTATION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810000" y="6451049"/>
            <a:ext cx="1378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05400" y="6451049"/>
            <a:ext cx="1044273"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23</a:t>
            </a:fld>
            <a:endParaRPr spc="-25" dirty="0"/>
          </a:p>
        </p:txBody>
      </p:sp>
      <p:sp>
        <p:nvSpPr>
          <p:cNvPr id="3" name="object 3"/>
          <p:cNvSpPr txBox="1"/>
          <p:nvPr/>
        </p:nvSpPr>
        <p:spPr>
          <a:xfrm>
            <a:off x="917575" y="1272544"/>
            <a:ext cx="9834245" cy="421847"/>
          </a:xfrm>
          <a:prstGeom prst="rect">
            <a:avLst/>
          </a:prstGeom>
        </p:spPr>
        <p:txBody>
          <a:bodyPr vert="horz" wrap="square" lIns="0" tIns="60960" rIns="0" bIns="0" rtlCol="0">
            <a:spAutoFit/>
          </a:bodyPr>
          <a:lstStyle/>
          <a:p>
            <a:pPr marL="241300" marR="5080" indent="-229235">
              <a:lnSpc>
                <a:spcPts val="3000"/>
              </a:lnSpc>
              <a:spcBef>
                <a:spcPts val="480"/>
              </a:spcBef>
              <a:buFont typeface="Arial MT"/>
              <a:buChar char="•"/>
              <a:tabLst>
                <a:tab pos="241300" algn="l"/>
              </a:tabLst>
            </a:pPr>
            <a:r>
              <a:rPr lang="en-IN" sz="2000" b="1" i="1" u="sng" dirty="0"/>
              <a:t>Software and Hardware Specifications </a:t>
            </a:r>
            <a:r>
              <a:rPr lang="en-IN" sz="2400" b="1" i="1" u="sng" dirty="0"/>
              <a:t>:</a:t>
            </a:r>
            <a:endParaRPr sz="2400" b="1" i="1" u="sng" dirty="0">
              <a:latin typeface="Times New Roman"/>
              <a:cs typeface="Times New Roman"/>
            </a:endParaRPr>
          </a:p>
        </p:txBody>
      </p:sp>
      <p:sp>
        <p:nvSpPr>
          <p:cNvPr id="9" name="TextBox 8">
            <a:extLst>
              <a:ext uri="{FF2B5EF4-FFF2-40B4-BE49-F238E27FC236}">
                <a16:creationId xmlns:a16="http://schemas.microsoft.com/office/drawing/2014/main" id="{1B0DFAA5-D429-F6BD-24E2-6040BF50C769}"/>
              </a:ext>
            </a:extLst>
          </p:cNvPr>
          <p:cNvSpPr txBox="1"/>
          <p:nvPr/>
        </p:nvSpPr>
        <p:spPr>
          <a:xfrm>
            <a:off x="1760789" y="1863240"/>
            <a:ext cx="9834245" cy="1323439"/>
          </a:xfrm>
          <a:prstGeom prst="rect">
            <a:avLst/>
          </a:prstGeom>
          <a:noFill/>
        </p:spPr>
        <p:txBody>
          <a:bodyPr wrap="square" rtlCol="0">
            <a:spAutoFit/>
          </a:bodyPr>
          <a:lstStyle/>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Python 3.10,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TorchVision</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OpenCV, NumPy, Matplotlib</a:t>
            </a: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Google Colab (GPU-enabled)</a:t>
            </a:r>
          </a:p>
          <a:p>
            <a:pPr marL="28575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NVIDIA T4 / V100 GPU, 16 GB VRAM, 12 GB RAM</a:t>
            </a:r>
          </a:p>
        </p:txBody>
      </p:sp>
      <p:sp>
        <p:nvSpPr>
          <p:cNvPr id="14" name="TextBox 13">
            <a:extLst>
              <a:ext uri="{FF2B5EF4-FFF2-40B4-BE49-F238E27FC236}">
                <a16:creationId xmlns:a16="http://schemas.microsoft.com/office/drawing/2014/main" id="{64C1AA0E-E508-9A3F-F2BE-B496803A175B}"/>
              </a:ext>
            </a:extLst>
          </p:cNvPr>
          <p:cNvSpPr txBox="1"/>
          <p:nvPr/>
        </p:nvSpPr>
        <p:spPr>
          <a:xfrm>
            <a:off x="838200" y="3323720"/>
            <a:ext cx="8226425" cy="440633"/>
          </a:xfrm>
          <a:prstGeom prst="rect">
            <a:avLst/>
          </a:prstGeom>
          <a:noFill/>
        </p:spPr>
        <p:txBody>
          <a:bodyPr wrap="square">
            <a:spAutoFit/>
          </a:bodyPr>
          <a:lstStyle/>
          <a:p>
            <a:pPr marL="241300" marR="5080" indent="-229235">
              <a:lnSpc>
                <a:spcPts val="3000"/>
              </a:lnSpc>
              <a:spcBef>
                <a:spcPts val="480"/>
              </a:spcBef>
              <a:buFont typeface="Arial MT"/>
              <a:buChar char="•"/>
              <a:tabLst>
                <a:tab pos="241300" algn="l"/>
              </a:tabLst>
            </a:pPr>
            <a:r>
              <a:rPr lang="en-IN" sz="2000" b="1" i="1" u="sng" dirty="0"/>
              <a:t>Implementation Summary</a:t>
            </a:r>
            <a:endParaRPr lang="en-IN" sz="2000" b="1" i="1" u="sng" dirty="0">
              <a:latin typeface="Times New Roman"/>
              <a:cs typeface="Times New Roman"/>
            </a:endParaRPr>
          </a:p>
        </p:txBody>
      </p:sp>
      <p:sp>
        <p:nvSpPr>
          <p:cNvPr id="16" name="TextBox 15">
            <a:extLst>
              <a:ext uri="{FF2B5EF4-FFF2-40B4-BE49-F238E27FC236}">
                <a16:creationId xmlns:a16="http://schemas.microsoft.com/office/drawing/2014/main" id="{CC6E5197-5109-A1E5-7AC0-781C54CAB979}"/>
              </a:ext>
            </a:extLst>
          </p:cNvPr>
          <p:cNvSpPr txBox="1"/>
          <p:nvPr/>
        </p:nvSpPr>
        <p:spPr>
          <a:xfrm>
            <a:off x="1760789" y="3901394"/>
            <a:ext cx="9385745" cy="1323439"/>
          </a:xfrm>
          <a:prstGeom prst="rect">
            <a:avLst/>
          </a:prstGeom>
          <a:noFill/>
        </p:spPr>
        <p:txBody>
          <a:bodyPr wrap="square">
            <a:spAutoFit/>
          </a:body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Prepared NYUD-v2 into .</a:t>
            </a:r>
            <a:r>
              <a:rPr lang="en-US" sz="2000" dirty="0" err="1">
                <a:latin typeface="Times New Roman" panose="02020603050405020304" pitchFamily="18" charset="0"/>
                <a:cs typeface="Times New Roman" panose="02020603050405020304" pitchFamily="18" charset="0"/>
              </a:rPr>
              <a:t>npz</a:t>
            </a:r>
            <a:r>
              <a:rPr lang="en-US" sz="2000" dirty="0">
                <a:latin typeface="Times New Roman" panose="02020603050405020304" pitchFamily="18" charset="0"/>
                <a:cs typeface="Times New Roman" panose="02020603050405020304" pitchFamily="18" charset="0"/>
              </a:rPr>
              <a:t> (RGB, Depth, Normals, Segmentation, Boundary).</a:t>
            </a: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Built </a:t>
            </a:r>
            <a:r>
              <a:rPr lang="en-IN" sz="2000" b="1" dirty="0" err="1">
                <a:latin typeface="Times New Roman" panose="02020603050405020304" pitchFamily="18" charset="0"/>
                <a:cs typeface="Times New Roman" panose="02020603050405020304" pitchFamily="18" charset="0"/>
              </a:rPr>
              <a:t>DeMT</a:t>
            </a:r>
            <a:r>
              <a:rPr lang="en-IN" sz="2000" dirty="0">
                <a:latin typeface="Times New Roman" panose="02020603050405020304" pitchFamily="18" charset="0"/>
                <a:cs typeface="Times New Roman" panose="02020603050405020304" pitchFamily="18" charset="0"/>
              </a:rPr>
              <a:t> with deformable encoder + transformer decoder.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Added four task heads and trained using </a:t>
            </a:r>
            <a:r>
              <a:rPr lang="en-US" sz="2000" b="1" dirty="0">
                <a:latin typeface="Times New Roman" panose="02020603050405020304" pitchFamily="18" charset="0"/>
                <a:cs typeface="Times New Roman" panose="02020603050405020304" pitchFamily="18" charset="0"/>
              </a:rPr>
              <a:t>multi-task weighted loss</a:t>
            </a:r>
            <a:r>
              <a:rPr lang="en-US" sz="20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Trained for 20 epochs.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24</a:t>
            </a:fld>
            <a:endParaRPr spc="-25" dirty="0"/>
          </a:p>
        </p:txBody>
      </p:sp>
      <p:sp>
        <p:nvSpPr>
          <p:cNvPr id="3" name="object 3"/>
          <p:cNvSpPr txBox="1"/>
          <p:nvPr/>
        </p:nvSpPr>
        <p:spPr>
          <a:xfrm>
            <a:off x="917575" y="1495425"/>
            <a:ext cx="4111625" cy="407804"/>
          </a:xfrm>
          <a:prstGeom prst="rect">
            <a:avLst/>
          </a:prstGeom>
        </p:spPr>
        <p:txBody>
          <a:bodyPr vert="horz" wrap="square" lIns="0" tIns="99060" rIns="0" bIns="0" rtlCol="0">
            <a:spAutoFit/>
          </a:bodyPr>
          <a:lstStyle/>
          <a:p>
            <a:pPr marL="12700">
              <a:lnSpc>
                <a:spcPct val="100000"/>
              </a:lnSpc>
              <a:spcBef>
                <a:spcPts val="780"/>
              </a:spcBef>
              <a:tabLst>
                <a:tab pos="241300" algn="l"/>
              </a:tabLst>
            </a:pPr>
            <a:r>
              <a:rPr lang="en-IN" sz="2000" b="1" i="1" u="sng" dirty="0"/>
              <a:t>Quantitative Results</a:t>
            </a:r>
            <a:endParaRPr sz="2000" b="1" i="1" u="sng" dirty="0">
              <a:latin typeface="Times New Roman"/>
              <a:cs typeface="Times New Roman"/>
            </a:endParaRPr>
          </a:p>
        </p:txBody>
      </p:sp>
      <p:pic>
        <p:nvPicPr>
          <p:cNvPr id="11" name="Picture 10">
            <a:extLst>
              <a:ext uri="{FF2B5EF4-FFF2-40B4-BE49-F238E27FC236}">
                <a16:creationId xmlns:a16="http://schemas.microsoft.com/office/drawing/2014/main" id="{9B3EBBCA-5E53-3755-88CA-285A1F6BC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988" y="2209800"/>
            <a:ext cx="4553160" cy="3048000"/>
          </a:xfrm>
          <a:prstGeom prst="rect">
            <a:avLst/>
          </a:prstGeom>
        </p:spPr>
      </p:pic>
      <p:sp>
        <p:nvSpPr>
          <p:cNvPr id="16" name="TextBox 15">
            <a:extLst>
              <a:ext uri="{FF2B5EF4-FFF2-40B4-BE49-F238E27FC236}">
                <a16:creationId xmlns:a16="http://schemas.microsoft.com/office/drawing/2014/main" id="{E84EDC6F-4226-198C-077F-3EEDE17914E9}"/>
              </a:ext>
            </a:extLst>
          </p:cNvPr>
          <p:cNvSpPr txBox="1"/>
          <p:nvPr/>
        </p:nvSpPr>
        <p:spPr>
          <a:xfrm>
            <a:off x="5581348" y="2274838"/>
            <a:ext cx="6153452" cy="255454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four tasks achieved </a:t>
            </a:r>
            <a:r>
              <a:rPr lang="en-US" sz="2000" b="1" dirty="0">
                <a:latin typeface="Times New Roman" panose="02020603050405020304" pitchFamily="18" charset="0"/>
                <a:cs typeface="Times New Roman" panose="02020603050405020304" pitchFamily="18" charset="0"/>
              </a:rPr>
              <a:t>high accuracy</a:t>
            </a:r>
            <a:r>
              <a:rPr lang="en-US" sz="2000" dirty="0">
                <a:latin typeface="Times New Roman" panose="02020603050405020304" pitchFamily="18" charset="0"/>
                <a:cs typeface="Times New Roman" panose="02020603050405020304" pitchFamily="18" charset="0"/>
              </a:rPr>
              <a:t> with stable convergence.</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Depth and normal predictions show </a:t>
            </a:r>
            <a:r>
              <a:rPr lang="en-US" sz="2000" b="1" dirty="0">
                <a:latin typeface="Times New Roman" panose="02020603050405020304" pitchFamily="18" charset="0"/>
                <a:cs typeface="Times New Roman" panose="02020603050405020304" pitchFamily="18" charset="0"/>
              </a:rPr>
              <a:t>low error</a:t>
            </a:r>
            <a:r>
              <a:rPr lang="en-US" sz="2000" dirty="0">
                <a:latin typeface="Times New Roman" panose="02020603050405020304" pitchFamily="18" charset="0"/>
                <a:cs typeface="Times New Roman" panose="02020603050405020304" pitchFamily="18" charset="0"/>
              </a:rPr>
              <a:t>, indicating strong geometric </a:t>
            </a:r>
            <a:r>
              <a:rPr lang="en-IN" sz="2000" dirty="0">
                <a:latin typeface="Times New Roman" panose="02020603050405020304" pitchFamily="18" charset="0"/>
                <a:cs typeface="Times New Roman" panose="02020603050405020304" pitchFamily="18" charset="0"/>
              </a:rPr>
              <a:t>understanding.</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Boundary maps are highly accurate due to deformable feature extraction.</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Multi-task weighted loss improved overall performance and balance across tasks.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180C7-489D-09DF-3563-2BC746B346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1DC01D-A363-3F2B-E66E-1A410BA62AC5}"/>
              </a:ext>
            </a:extLst>
          </p:cNvPr>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a:extLst>
              <a:ext uri="{FF2B5EF4-FFF2-40B4-BE49-F238E27FC236}">
                <a16:creationId xmlns:a16="http://schemas.microsoft.com/office/drawing/2014/main" id="{D46D1F8A-8A3A-5E25-257D-BF6BB022F865}"/>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537C7E3C-C781-6C73-43B6-D579616709A0}"/>
              </a:ext>
            </a:extLst>
          </p:cNvPr>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4219E6E2-4096-18DD-0B05-96C2B351ABD1}"/>
              </a:ext>
            </a:extLst>
          </p:cNvPr>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6B682D91-B723-5BF8-590C-A3AA8421D8AC}"/>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9E4F16DB-4C87-BB77-97DD-E2F9B665F89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25</a:t>
            </a:fld>
            <a:endParaRPr spc="-25" dirty="0"/>
          </a:p>
        </p:txBody>
      </p:sp>
      <p:sp>
        <p:nvSpPr>
          <p:cNvPr id="3" name="object 3">
            <a:extLst>
              <a:ext uri="{FF2B5EF4-FFF2-40B4-BE49-F238E27FC236}">
                <a16:creationId xmlns:a16="http://schemas.microsoft.com/office/drawing/2014/main" id="{4D6C2107-C8F8-1768-BCD6-3F86D0F17F38}"/>
              </a:ext>
            </a:extLst>
          </p:cNvPr>
          <p:cNvSpPr txBox="1"/>
          <p:nvPr/>
        </p:nvSpPr>
        <p:spPr>
          <a:xfrm>
            <a:off x="697165" y="1483468"/>
            <a:ext cx="4111625" cy="407804"/>
          </a:xfrm>
          <a:prstGeom prst="rect">
            <a:avLst/>
          </a:prstGeom>
        </p:spPr>
        <p:txBody>
          <a:bodyPr vert="horz" wrap="square" lIns="0" tIns="99060" rIns="0" bIns="0" rtlCol="0">
            <a:spAutoFit/>
          </a:bodyPr>
          <a:lstStyle/>
          <a:p>
            <a:pPr marL="12700">
              <a:lnSpc>
                <a:spcPct val="100000"/>
              </a:lnSpc>
              <a:spcBef>
                <a:spcPts val="780"/>
              </a:spcBef>
              <a:tabLst>
                <a:tab pos="241300" algn="l"/>
              </a:tabLst>
            </a:pPr>
            <a:r>
              <a:rPr lang="en-IN" sz="2000" b="1" i="1" u="sng" dirty="0"/>
              <a:t>Training Curves </a:t>
            </a:r>
            <a:endParaRPr sz="2000" b="1" i="1" u="sng" dirty="0">
              <a:latin typeface="Times New Roman"/>
              <a:cs typeface="Times New Roman"/>
            </a:endParaRPr>
          </a:p>
        </p:txBody>
      </p:sp>
      <p:pic>
        <p:nvPicPr>
          <p:cNvPr id="10" name="Picture 9">
            <a:extLst>
              <a:ext uri="{FF2B5EF4-FFF2-40B4-BE49-F238E27FC236}">
                <a16:creationId xmlns:a16="http://schemas.microsoft.com/office/drawing/2014/main" id="{0102C5D5-B593-099C-4043-5CE09BD35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057400"/>
            <a:ext cx="3810000" cy="3505200"/>
          </a:xfrm>
          <a:prstGeom prst="rect">
            <a:avLst/>
          </a:prstGeom>
        </p:spPr>
      </p:pic>
      <p:pic>
        <p:nvPicPr>
          <p:cNvPr id="13" name="Picture 12">
            <a:extLst>
              <a:ext uri="{FF2B5EF4-FFF2-40B4-BE49-F238E27FC236}">
                <a16:creationId xmlns:a16="http://schemas.microsoft.com/office/drawing/2014/main" id="{DDC00D9F-0A65-A88E-9A4F-015BFBA03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1" y="2209801"/>
            <a:ext cx="3657600" cy="3352799"/>
          </a:xfrm>
          <a:prstGeom prst="rect">
            <a:avLst/>
          </a:prstGeom>
        </p:spPr>
      </p:pic>
      <p:pic>
        <p:nvPicPr>
          <p:cNvPr id="15" name="Picture 14">
            <a:extLst>
              <a:ext uri="{FF2B5EF4-FFF2-40B4-BE49-F238E27FC236}">
                <a16:creationId xmlns:a16="http://schemas.microsoft.com/office/drawing/2014/main" id="{F5453C84-9598-B395-497D-F1004AA35B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7200" y="2133599"/>
            <a:ext cx="3962401" cy="3429001"/>
          </a:xfrm>
          <a:prstGeom prst="rect">
            <a:avLst/>
          </a:prstGeom>
        </p:spPr>
      </p:pic>
    </p:spTree>
    <p:extLst>
      <p:ext uri="{BB962C8B-B14F-4D97-AF65-F5344CB8AC3E}">
        <p14:creationId xmlns:p14="http://schemas.microsoft.com/office/powerpoint/2010/main" val="223756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5D2C-2B61-605C-C74F-EBE7A31248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9FC27A-D7D3-F83A-0007-9D565F5423DC}"/>
              </a:ext>
            </a:extLst>
          </p:cNvPr>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a:extLst>
              <a:ext uri="{FF2B5EF4-FFF2-40B4-BE49-F238E27FC236}">
                <a16:creationId xmlns:a16="http://schemas.microsoft.com/office/drawing/2014/main" id="{CF49A512-D8EF-3069-F76B-3B96F9750210}"/>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1841B13C-09EB-8167-367C-08B85D664842}"/>
              </a:ext>
            </a:extLst>
          </p:cNvPr>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46FCE87D-FD28-E957-5097-1E0FC479F59D}"/>
              </a:ext>
            </a:extLst>
          </p:cNvPr>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FCAC2621-AD2D-B98A-BAE2-7EDACA652FE0}"/>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67EDDC06-AFCA-26F7-73D9-042559E1DDC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26</a:t>
            </a:fld>
            <a:endParaRPr spc="-25" dirty="0"/>
          </a:p>
        </p:txBody>
      </p:sp>
      <p:sp>
        <p:nvSpPr>
          <p:cNvPr id="3" name="object 3">
            <a:extLst>
              <a:ext uri="{FF2B5EF4-FFF2-40B4-BE49-F238E27FC236}">
                <a16:creationId xmlns:a16="http://schemas.microsoft.com/office/drawing/2014/main" id="{646CAC14-9CF3-79E9-3982-457D95CB8FE8}"/>
              </a:ext>
            </a:extLst>
          </p:cNvPr>
          <p:cNvSpPr txBox="1"/>
          <p:nvPr/>
        </p:nvSpPr>
        <p:spPr>
          <a:xfrm>
            <a:off x="917575" y="1495425"/>
            <a:ext cx="4111625" cy="407804"/>
          </a:xfrm>
          <a:prstGeom prst="rect">
            <a:avLst/>
          </a:prstGeom>
        </p:spPr>
        <p:txBody>
          <a:bodyPr vert="horz" wrap="square" lIns="0" tIns="99060" rIns="0" bIns="0" rtlCol="0">
            <a:spAutoFit/>
          </a:bodyPr>
          <a:lstStyle/>
          <a:p>
            <a:pPr marL="12700">
              <a:lnSpc>
                <a:spcPct val="100000"/>
              </a:lnSpc>
              <a:spcBef>
                <a:spcPts val="780"/>
              </a:spcBef>
              <a:tabLst>
                <a:tab pos="241300" algn="l"/>
              </a:tabLst>
            </a:pPr>
            <a:r>
              <a:rPr lang="en-IN" sz="2000" b="1" i="1" u="sng" dirty="0"/>
              <a:t>Training Curves </a:t>
            </a:r>
            <a:endParaRPr sz="2000" b="1" i="1" u="sng" dirty="0">
              <a:latin typeface="Times New Roman"/>
              <a:cs typeface="Times New Roman"/>
            </a:endParaRPr>
          </a:p>
        </p:txBody>
      </p:sp>
      <p:pic>
        <p:nvPicPr>
          <p:cNvPr id="11" name="Picture 10">
            <a:extLst>
              <a:ext uri="{FF2B5EF4-FFF2-40B4-BE49-F238E27FC236}">
                <a16:creationId xmlns:a16="http://schemas.microsoft.com/office/drawing/2014/main" id="{3EC68B41-CBD8-E506-C844-B40478350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263" y="1903229"/>
            <a:ext cx="4898137" cy="2440171"/>
          </a:xfrm>
          <a:prstGeom prst="rect">
            <a:avLst/>
          </a:prstGeom>
        </p:spPr>
      </p:pic>
      <p:pic>
        <p:nvPicPr>
          <p:cNvPr id="14" name="Picture 13">
            <a:extLst>
              <a:ext uri="{FF2B5EF4-FFF2-40B4-BE49-F238E27FC236}">
                <a16:creationId xmlns:a16="http://schemas.microsoft.com/office/drawing/2014/main" id="{593B6474-59D0-AE08-A90C-12EAA3A202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2829" y="1680233"/>
            <a:ext cx="5605526" cy="2663168"/>
          </a:xfrm>
          <a:prstGeom prst="rect">
            <a:avLst/>
          </a:prstGeom>
        </p:spPr>
      </p:pic>
      <p:sp>
        <p:nvSpPr>
          <p:cNvPr id="17" name="TextBox 16">
            <a:extLst>
              <a:ext uri="{FF2B5EF4-FFF2-40B4-BE49-F238E27FC236}">
                <a16:creationId xmlns:a16="http://schemas.microsoft.com/office/drawing/2014/main" id="{EDA65023-AD83-2E45-8EFA-A1578B167257}"/>
              </a:ext>
            </a:extLst>
          </p:cNvPr>
          <p:cNvSpPr txBox="1"/>
          <p:nvPr/>
        </p:nvSpPr>
        <p:spPr>
          <a:xfrm>
            <a:off x="1045463" y="4648200"/>
            <a:ext cx="10689337" cy="132343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shows </a:t>
            </a:r>
            <a:r>
              <a:rPr lang="en-US" sz="2000" b="1" dirty="0">
                <a:latin typeface="Times New Roman" panose="02020603050405020304" pitchFamily="18" charset="0"/>
                <a:cs typeface="Times New Roman" panose="02020603050405020304" pitchFamily="18" charset="0"/>
              </a:rPr>
              <a:t>strong convergence</a:t>
            </a:r>
            <a:r>
              <a:rPr lang="en-US" sz="2000" dirty="0">
                <a:latin typeface="Times New Roman" panose="02020603050405020304" pitchFamily="18" charset="0"/>
                <a:cs typeface="Times New Roman" panose="02020603050405020304" pitchFamily="18" charset="0"/>
              </a:rPr>
              <a:t> with continuous improvement across all tasks.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Deformable encoder successfully captures </a:t>
            </a:r>
            <a:r>
              <a:rPr lang="en-US" sz="2000" b="1" dirty="0">
                <a:latin typeface="Times New Roman" panose="02020603050405020304" pitchFamily="18" charset="0"/>
                <a:cs typeface="Times New Roman" panose="02020603050405020304" pitchFamily="18" charset="0"/>
              </a:rPr>
              <a:t>fine spatial details</a:t>
            </a:r>
            <a:r>
              <a:rPr lang="en-US" sz="20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Transformer decoder enhances </a:t>
            </a:r>
            <a:r>
              <a:rPr lang="en-US" sz="2000" b="1" dirty="0">
                <a:latin typeface="Times New Roman" panose="02020603050405020304" pitchFamily="18" charset="0"/>
                <a:cs typeface="Times New Roman" panose="02020603050405020304" pitchFamily="18" charset="0"/>
              </a:rPr>
              <a:t>global context reasoning</a:t>
            </a:r>
            <a:r>
              <a:rPr lang="en-US" sz="2000" dirty="0">
                <a:latin typeface="Times New Roman" panose="02020603050405020304" pitchFamily="18" charset="0"/>
                <a:cs typeface="Times New Roman" panose="02020603050405020304" pitchFamily="18" charset="0"/>
              </a:rPr>
              <a:t>, boosting multi-task </a:t>
            </a:r>
            <a:r>
              <a:rPr lang="en-IN" sz="2000" dirty="0">
                <a:latin typeface="Times New Roman" panose="02020603050405020304" pitchFamily="18" charset="0"/>
                <a:cs typeface="Times New Roman" panose="02020603050405020304" pitchFamily="18" charset="0"/>
              </a:rPr>
              <a:t>performance.</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Weighted multi-task training ensures </a:t>
            </a:r>
            <a:r>
              <a:rPr lang="en-US" sz="2000" b="1" dirty="0">
                <a:latin typeface="Times New Roman" panose="02020603050405020304" pitchFamily="18" charset="0"/>
                <a:cs typeface="Times New Roman" panose="02020603050405020304" pitchFamily="18" charset="0"/>
              </a:rPr>
              <a:t>balanced accuracy</a:t>
            </a:r>
            <a:r>
              <a:rPr lang="en-US" sz="2000" dirty="0">
                <a:latin typeface="Times New Roman" panose="02020603050405020304" pitchFamily="18" charset="0"/>
                <a:cs typeface="Times New Roman" panose="02020603050405020304" pitchFamily="18" charset="0"/>
              </a:rPr>
              <a:t> without any task dominating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994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27</a:t>
            </a:fld>
            <a:endParaRPr spc="-25" dirty="0"/>
          </a:p>
        </p:txBody>
      </p:sp>
      <p:sp>
        <p:nvSpPr>
          <p:cNvPr id="3" name="object 3"/>
          <p:cNvSpPr txBox="1">
            <a:spLocks noGrp="1"/>
          </p:cNvSpPr>
          <p:nvPr>
            <p:ph type="body" idx="1"/>
          </p:nvPr>
        </p:nvSpPr>
        <p:spPr>
          <a:xfrm>
            <a:off x="1371600" y="1477397"/>
            <a:ext cx="9925875" cy="2254463"/>
          </a:xfrm>
          <a:prstGeom prst="rect">
            <a:avLst/>
          </a:prstGeom>
        </p:spPr>
        <p:txBody>
          <a:bodyPr vert="horz" wrap="square" lIns="0" tIns="99060" rIns="0" bIns="0" rtlCol="0">
            <a:spAutoFit/>
          </a:bodyPr>
          <a:lstStyle/>
          <a:p>
            <a:pPr marL="241300" indent="-228600" algn="just">
              <a:lnSpc>
                <a:spcPct val="100000"/>
              </a:lnSpc>
              <a:spcBef>
                <a:spcPts val="780"/>
              </a:spcBef>
              <a:buFont typeface="Arial MT"/>
              <a:buChar char="•"/>
              <a:tabLst>
                <a:tab pos="241300" algn="l"/>
              </a:tabLst>
            </a:pPr>
            <a:r>
              <a:rPr lang="en-US" sz="2000" dirty="0"/>
              <a:t>Demonstrates that a </a:t>
            </a:r>
            <a:r>
              <a:rPr lang="en-US" sz="2000" b="1" dirty="0"/>
              <a:t>single unified model</a:t>
            </a:r>
            <a:r>
              <a:rPr lang="en-US" sz="2000" dirty="0"/>
              <a:t> can perform multiple dense prediction tasks with state-of-the-art accuracy.</a:t>
            </a:r>
          </a:p>
          <a:p>
            <a:pPr marL="241300" indent="-228600" algn="just">
              <a:lnSpc>
                <a:spcPct val="100000"/>
              </a:lnSpc>
              <a:spcBef>
                <a:spcPts val="780"/>
              </a:spcBef>
              <a:buFont typeface="Arial MT"/>
              <a:buChar char="•"/>
              <a:tabLst>
                <a:tab pos="241300" algn="l"/>
              </a:tabLst>
            </a:pPr>
            <a:r>
              <a:rPr lang="en-US" sz="2000" dirty="0"/>
              <a:t>Shows strong potential for </a:t>
            </a:r>
            <a:r>
              <a:rPr lang="en-US" sz="2000" b="1" dirty="0"/>
              <a:t>real-time indoor scene understanding</a:t>
            </a:r>
            <a:r>
              <a:rPr lang="en-US" sz="2000" dirty="0"/>
              <a:t>, robotics, and smart systems.</a:t>
            </a:r>
          </a:p>
          <a:p>
            <a:pPr marL="241300" indent="-228600" algn="just">
              <a:spcBef>
                <a:spcPts val="780"/>
              </a:spcBef>
              <a:buFont typeface="Arial MT"/>
              <a:buChar char="•"/>
              <a:tabLst>
                <a:tab pos="241300" algn="l"/>
              </a:tabLst>
            </a:pPr>
            <a:r>
              <a:rPr lang="en-US" sz="2000" dirty="0"/>
              <a:t>Validates </a:t>
            </a:r>
            <a:r>
              <a:rPr lang="en-US" sz="2000" dirty="0" err="1"/>
              <a:t>DeMT</a:t>
            </a:r>
            <a:r>
              <a:rPr lang="en-US" sz="2000" dirty="0"/>
              <a:t> as a </a:t>
            </a:r>
            <a:r>
              <a:rPr lang="en-US" sz="2000" b="1" dirty="0"/>
              <a:t>computationally efficient</a:t>
            </a:r>
            <a:r>
              <a:rPr lang="en-US" sz="2000" dirty="0"/>
              <a:t> multi-task approach.</a:t>
            </a:r>
          </a:p>
          <a:p>
            <a:pPr marL="241300" indent="-228600" algn="just">
              <a:lnSpc>
                <a:spcPct val="100000"/>
              </a:lnSpc>
              <a:spcBef>
                <a:spcPts val="780"/>
              </a:spcBef>
              <a:buFont typeface="Arial MT"/>
              <a:buChar char="•"/>
              <a:tabLst>
                <a:tab pos="241300" algn="l"/>
              </a:tabLst>
            </a:pPr>
            <a:endParaRPr sz="2000" spc="-10" dirty="0"/>
          </a:p>
        </p:txBody>
      </p:sp>
      <p:sp>
        <p:nvSpPr>
          <p:cNvPr id="9" name="TextBox 8">
            <a:extLst>
              <a:ext uri="{FF2B5EF4-FFF2-40B4-BE49-F238E27FC236}">
                <a16:creationId xmlns:a16="http://schemas.microsoft.com/office/drawing/2014/main" id="{591567C3-B5C0-5CB2-F71D-C5D65F351AB5}"/>
              </a:ext>
            </a:extLst>
          </p:cNvPr>
          <p:cNvSpPr txBox="1"/>
          <p:nvPr/>
        </p:nvSpPr>
        <p:spPr>
          <a:xfrm>
            <a:off x="1045463" y="3494402"/>
            <a:ext cx="4669537" cy="400110"/>
          </a:xfrm>
          <a:prstGeom prst="rect">
            <a:avLst/>
          </a:prstGeom>
          <a:noFill/>
        </p:spPr>
        <p:txBody>
          <a:bodyPr wrap="square" rtlCol="0">
            <a:spAutoFit/>
          </a:bodyPr>
          <a:lstStyle/>
          <a:p>
            <a:r>
              <a:rPr lang="en-IN" sz="2000" b="1" i="1" u="sng" dirty="0">
                <a:latin typeface="Times New Roman" panose="02020603050405020304" pitchFamily="18" charset="0"/>
                <a:cs typeface="Times New Roman" panose="02020603050405020304" pitchFamily="18" charset="0"/>
              </a:rPr>
              <a:t>Future Scope</a:t>
            </a:r>
          </a:p>
        </p:txBody>
      </p:sp>
      <p:sp>
        <p:nvSpPr>
          <p:cNvPr id="11" name="TextBox 10">
            <a:extLst>
              <a:ext uri="{FF2B5EF4-FFF2-40B4-BE49-F238E27FC236}">
                <a16:creationId xmlns:a16="http://schemas.microsoft.com/office/drawing/2014/main" id="{1A14CD62-21FB-96C0-CD92-F9CFCE2197BD}"/>
              </a:ext>
            </a:extLst>
          </p:cNvPr>
          <p:cNvSpPr txBox="1"/>
          <p:nvPr/>
        </p:nvSpPr>
        <p:spPr>
          <a:xfrm>
            <a:off x="1328895" y="4057164"/>
            <a:ext cx="10011283"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Extend training to larger datasets (Cityscapes, PASCAL-Context).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DeMT</a:t>
            </a:r>
            <a:r>
              <a:rPr lang="en-US" sz="2000" dirty="0">
                <a:latin typeface="Times New Roman" panose="02020603050405020304" pitchFamily="18" charset="0"/>
                <a:cs typeface="Times New Roman" panose="02020603050405020304" pitchFamily="18" charset="0"/>
              </a:rPr>
              <a:t> framework can be extended to interactive domains such as AR/VR and robotics, where </a:t>
            </a:r>
            <a:r>
              <a:rPr lang="en-US" sz="2000" dirty="0" err="1">
                <a:latin typeface="Times New Roman" panose="02020603050405020304" pitchFamily="18" charset="0"/>
                <a:cs typeface="Times New Roman" panose="02020603050405020304" pitchFamily="18" charset="0"/>
              </a:rPr>
              <a:t>accu</a:t>
            </a:r>
            <a:r>
              <a:rPr lang="en-US" sz="2000" dirty="0">
                <a:latin typeface="Times New Roman" panose="02020603050405020304" pitchFamily="18" charset="0"/>
                <a:cs typeface="Times New Roman" panose="02020603050405020304" pitchFamily="18" charset="0"/>
              </a:rPr>
              <a:t> rate real-time scene understanding is essential for user immersion and safe navigation.</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733800" y="6451049"/>
            <a:ext cx="14544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28</a:t>
            </a:fld>
            <a:endParaRPr spc="-25" dirty="0"/>
          </a:p>
        </p:txBody>
      </p:sp>
      <p:sp>
        <p:nvSpPr>
          <p:cNvPr id="9" name="TextBox 8">
            <a:extLst>
              <a:ext uri="{FF2B5EF4-FFF2-40B4-BE49-F238E27FC236}">
                <a16:creationId xmlns:a16="http://schemas.microsoft.com/office/drawing/2014/main" id="{1A5010EA-038F-4BC3-810D-3BC486E7DB7E}"/>
              </a:ext>
            </a:extLst>
          </p:cNvPr>
          <p:cNvSpPr txBox="1"/>
          <p:nvPr/>
        </p:nvSpPr>
        <p:spPr>
          <a:xfrm>
            <a:off x="893460" y="1295400"/>
            <a:ext cx="10512425" cy="4801314"/>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Misra, I., et al. “Cross-Stitch Networks for Multi-Task Learning.”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2016</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Liu, S., et al. “Learning Deep Representations with Task-Specific Attention.” </a:t>
            </a:r>
            <a:r>
              <a:rPr lang="en-US" i="1" dirty="0">
                <a:latin typeface="Times New Roman" panose="02020603050405020304" pitchFamily="18" charset="0"/>
                <a:cs typeface="Times New Roman" panose="02020603050405020304" pitchFamily="18" charset="0"/>
              </a:rPr>
              <a:t>TPAMI</a:t>
            </a:r>
            <a:r>
              <a:rPr lang="en-US" dirty="0">
                <a:latin typeface="Times New Roman" panose="02020603050405020304" pitchFamily="18" charset="0"/>
                <a:cs typeface="Times New Roman" panose="02020603050405020304" pitchFamily="18" charset="0"/>
              </a:rPr>
              <a:t>, 2019.</a:t>
            </a:r>
          </a:p>
          <a:p>
            <a:pPr marL="285750" indent="-28575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Vandenhende</a:t>
            </a:r>
            <a:r>
              <a:rPr lang="en-IN" dirty="0">
                <a:latin typeface="Times New Roman" panose="02020603050405020304" pitchFamily="18" charset="0"/>
                <a:cs typeface="Times New Roman" panose="02020603050405020304" pitchFamily="18" charset="0"/>
              </a:rPr>
              <a:t>, S., et al. “MTI-Net: Multi-Scale Task Interaction Networks for Multi-Task Learning.” </a:t>
            </a:r>
            <a:r>
              <a:rPr lang="en-IN" i="1" dirty="0">
                <a:latin typeface="Times New Roman" panose="02020603050405020304" pitchFamily="18" charset="0"/>
                <a:cs typeface="Times New Roman" panose="02020603050405020304" pitchFamily="18" charset="0"/>
              </a:rPr>
              <a:t>ECCV</a:t>
            </a:r>
            <a:r>
              <a:rPr lang="en-IN" dirty="0">
                <a:latin typeface="Times New Roman" panose="02020603050405020304" pitchFamily="18" charset="0"/>
                <a:cs typeface="Times New Roman" panose="02020603050405020304" pitchFamily="18" charset="0"/>
              </a:rPr>
              <a:t>, 2020</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Bhattacharjee, B., et al. “</a:t>
            </a:r>
            <a:r>
              <a:rPr lang="en-US" dirty="0" err="1">
                <a:latin typeface="Times New Roman" panose="02020603050405020304" pitchFamily="18" charset="0"/>
                <a:cs typeface="Times New Roman" panose="02020603050405020304" pitchFamily="18" charset="0"/>
              </a:rPr>
              <a:t>MulT</a:t>
            </a:r>
            <a:r>
              <a:rPr lang="en-US" dirty="0">
                <a:latin typeface="Times New Roman" panose="02020603050405020304" pitchFamily="18" charset="0"/>
                <a:cs typeface="Times New Roman" panose="02020603050405020304" pitchFamily="18" charset="0"/>
              </a:rPr>
              <a:t>: Transformer for Multi-Task Learning.” </a:t>
            </a:r>
            <a:r>
              <a:rPr lang="en-US" i="1" dirty="0">
                <a:latin typeface="Times New Roman" panose="02020603050405020304" pitchFamily="18" charset="0"/>
                <a:cs typeface="Times New Roman" panose="02020603050405020304" pitchFamily="18" charset="0"/>
              </a:rPr>
              <a:t>CVPR Workshops</a:t>
            </a:r>
            <a:r>
              <a:rPr lang="en-US" dirty="0">
                <a:latin typeface="Times New Roman" panose="02020603050405020304" pitchFamily="18" charset="0"/>
                <a:cs typeface="Times New Roman" panose="02020603050405020304" pitchFamily="18" charset="0"/>
              </a:rPr>
              <a:t>, 2022.</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Xu, D., et al. “ATRC: Adaptive Task Relation Constraint for Multi-Task Learning.”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2020.</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Zamir, A., et al. “</a:t>
            </a:r>
            <a:r>
              <a:rPr lang="en-US" dirty="0" err="1">
                <a:latin typeface="Times New Roman" panose="02020603050405020304" pitchFamily="18" charset="0"/>
                <a:cs typeface="Times New Roman" panose="02020603050405020304" pitchFamily="18" charset="0"/>
              </a:rPr>
              <a:t>Taskonomy</a:t>
            </a:r>
            <a:r>
              <a:rPr lang="en-US" dirty="0">
                <a:latin typeface="Times New Roman" panose="02020603050405020304" pitchFamily="18" charset="0"/>
                <a:cs typeface="Times New Roman" panose="02020603050405020304" pitchFamily="18" charset="0"/>
              </a:rPr>
              <a:t>: Disentangling Task Transfer Learning.”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Standley</a:t>
            </a:r>
            <a:r>
              <a:rPr lang="en-US" dirty="0">
                <a:latin typeface="Times New Roman" panose="02020603050405020304" pitchFamily="18" charset="0"/>
                <a:cs typeface="Times New Roman" panose="02020603050405020304" pitchFamily="18" charset="0"/>
              </a:rPr>
              <a:t>, T., et al. “Which Tasks Should Be Learned Together?” </a:t>
            </a:r>
            <a:r>
              <a:rPr lang="en-US" i="1" dirty="0">
                <a:latin typeface="Times New Roman" panose="02020603050405020304" pitchFamily="18" charset="0"/>
                <a:cs typeface="Times New Roman" panose="02020603050405020304" pitchFamily="18" charset="0"/>
              </a:rPr>
              <a:t>ICML</a:t>
            </a:r>
            <a:r>
              <a:rPr lang="en-US" dirty="0">
                <a:latin typeface="Times New Roman" panose="02020603050405020304" pitchFamily="18" charset="0"/>
                <a:cs typeface="Times New Roman" panose="02020603050405020304" pitchFamily="18" charset="0"/>
              </a:rPr>
              <a:t>, 2020.</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Sener, O., and Koltun, V. “Multi-Task Learning as Multi-Objective Optimization (GradNorm).” </a:t>
            </a:r>
            <a:r>
              <a:rPr lang="en-US" i="1" dirty="0" err="1">
                <a:latin typeface="Times New Roman" panose="02020603050405020304" pitchFamily="18" charset="0"/>
                <a:cs typeface="Times New Roman" panose="02020603050405020304" pitchFamily="18" charset="0"/>
              </a:rPr>
              <a:t>NeurIPS</a:t>
            </a:r>
            <a:r>
              <a:rPr lang="en-US"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Kendall, A., et al. “Multi-Task Learning Using Task Uncertainty to Weigh Losses.”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Vaswani, A., et al. “Attention is All You Need.” </a:t>
            </a:r>
            <a:r>
              <a:rPr lang="en-US" i="1" dirty="0" err="1">
                <a:latin typeface="Times New Roman" panose="02020603050405020304" pitchFamily="18" charset="0"/>
                <a:cs typeface="Times New Roman" panose="02020603050405020304" pitchFamily="18" charset="0"/>
              </a:rPr>
              <a:t>NeurIPS</a:t>
            </a:r>
            <a:r>
              <a:rPr lang="en-US" dirty="0">
                <a:latin typeface="Times New Roman" panose="02020603050405020304" pitchFamily="18" charset="0"/>
                <a:cs typeface="Times New Roman" panose="02020603050405020304" pitchFamily="18" charset="0"/>
              </a:rPr>
              <a:t>, 2017.</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Wang, X., et al. “Deformable Convolutional Networks v2.” </a:t>
            </a:r>
            <a:r>
              <a:rPr lang="en-IN" i="1" dirty="0">
                <a:latin typeface="Times New Roman" panose="02020603050405020304" pitchFamily="18" charset="0"/>
                <a:cs typeface="Times New Roman" panose="02020603050405020304" pitchFamily="18" charset="0"/>
              </a:rPr>
              <a:t>CVPR</a:t>
            </a:r>
            <a:r>
              <a:rPr lang="en-IN" dirty="0">
                <a:latin typeface="Times New Roman" panose="02020603050405020304" pitchFamily="18" charset="0"/>
                <a:cs typeface="Times New Roman" panose="02020603050405020304" pitchFamily="18" charset="0"/>
              </a:rPr>
              <a:t>, 2019.</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Chen, L., et al. “</a:t>
            </a:r>
            <a:r>
              <a:rPr lang="en-IN" dirty="0" err="1">
                <a:latin typeface="Times New Roman" panose="02020603050405020304" pitchFamily="18" charset="0"/>
                <a:cs typeface="Times New Roman" panose="02020603050405020304" pitchFamily="18" charset="0"/>
              </a:rPr>
              <a:t>DeepLab</a:t>
            </a:r>
            <a:r>
              <a:rPr lang="en-IN" dirty="0">
                <a:latin typeface="Times New Roman" panose="02020603050405020304" pitchFamily="18" charset="0"/>
                <a:cs typeface="Times New Roman" panose="02020603050405020304" pitchFamily="18" charset="0"/>
              </a:rPr>
              <a:t>: Semantic Image Segmentation with </a:t>
            </a:r>
            <a:r>
              <a:rPr lang="en-IN" dirty="0" err="1">
                <a:latin typeface="Times New Roman" panose="02020603050405020304" pitchFamily="18" charset="0"/>
                <a:cs typeface="Times New Roman" panose="02020603050405020304" pitchFamily="18" charset="0"/>
              </a:rPr>
              <a:t>Atrous</a:t>
            </a:r>
            <a:r>
              <a:rPr lang="en-IN" dirty="0">
                <a:latin typeface="Times New Roman" panose="02020603050405020304" pitchFamily="18" charset="0"/>
                <a:cs typeface="Times New Roman" panose="02020603050405020304" pitchFamily="18" charset="0"/>
              </a:rPr>
              <a:t> Convolution.” </a:t>
            </a:r>
            <a:r>
              <a:rPr lang="en-IN" i="1" dirty="0">
                <a:latin typeface="Times New Roman" panose="02020603050405020304" pitchFamily="18" charset="0"/>
                <a:cs typeface="Times New Roman" panose="02020603050405020304" pitchFamily="18" charset="0"/>
              </a:rPr>
              <a:t>TPAMI</a:t>
            </a:r>
            <a:r>
              <a:rPr lang="en-IN"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Silberman, N., et al. “NYUD-v2: Indoor Segmentation and Support Inference.” </a:t>
            </a:r>
            <a:r>
              <a:rPr lang="en-US" i="1" dirty="0">
                <a:latin typeface="Times New Roman" panose="02020603050405020304" pitchFamily="18" charset="0"/>
                <a:cs typeface="Times New Roman" panose="02020603050405020304" pitchFamily="18" charset="0"/>
              </a:rPr>
              <a:t>ECCV</a:t>
            </a:r>
            <a:r>
              <a:rPr lang="en-US" dirty="0">
                <a:latin typeface="Times New Roman" panose="02020603050405020304" pitchFamily="18" charset="0"/>
                <a:cs typeface="Times New Roman" panose="02020603050405020304" pitchFamily="18" charset="0"/>
              </a:rPr>
              <a:t>, 2012.</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Zhang, Z., et al. “Deformable Mixer Transformer (</a:t>
            </a:r>
            <a:r>
              <a:rPr lang="en-IN" dirty="0" err="1">
                <a:latin typeface="Times New Roman" panose="02020603050405020304" pitchFamily="18" charset="0"/>
                <a:cs typeface="Times New Roman" panose="02020603050405020304" pitchFamily="18" charset="0"/>
              </a:rPr>
              <a:t>DeMT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IEEE ICIH</a:t>
            </a:r>
            <a:r>
              <a:rPr lang="en-IN" dirty="0">
                <a:latin typeface="Times New Roman" panose="02020603050405020304" pitchFamily="18" charset="0"/>
                <a:cs typeface="Times New Roman" panose="02020603050405020304" pitchFamily="18" charset="0"/>
              </a:rPr>
              <a:t>, 2025.</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 K., et al.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Deep Residual Learning for Image Recognition.”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2016.</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33600">
              <a:lnSpc>
                <a:spcPct val="100000"/>
              </a:lnSpc>
              <a:spcBef>
                <a:spcPts val="130"/>
              </a:spcBef>
            </a:pPr>
            <a:r>
              <a:rPr spc="-10" dirty="0"/>
              <a:t>ACKNOWLEGEMENTS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810000" y="6451049"/>
            <a:ext cx="1378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29</a:t>
            </a:fld>
            <a:endParaRPr spc="-25" dirty="0"/>
          </a:p>
        </p:txBody>
      </p:sp>
      <p:sp>
        <p:nvSpPr>
          <p:cNvPr id="3" name="object 3"/>
          <p:cNvSpPr txBox="1"/>
          <p:nvPr/>
        </p:nvSpPr>
        <p:spPr>
          <a:xfrm>
            <a:off x="917574" y="1730872"/>
            <a:ext cx="10588625" cy="4511491"/>
          </a:xfrm>
          <a:prstGeom prst="rect">
            <a:avLst/>
          </a:prstGeom>
        </p:spPr>
        <p:txBody>
          <a:bodyPr vert="horz" wrap="square" lIns="0" tIns="99060" rIns="0" bIns="0" rtlCol="0">
            <a:spAutoFit/>
          </a:bodyPr>
          <a:lstStyle/>
          <a:p>
            <a:pPr marL="241300" indent="-228600">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We would like to express our sincere gratitude to the faculty and staff of </a:t>
            </a:r>
            <a:r>
              <a:rPr lang="en-US" sz="2000" dirty="0" err="1">
                <a:latin typeface="Times New Roman" panose="02020603050405020304" pitchFamily="18" charset="0"/>
                <a:cs typeface="Times New Roman" panose="02020603050405020304" pitchFamily="18" charset="0"/>
              </a:rPr>
              <a:t>Narasaraopeta</a:t>
            </a:r>
            <a:r>
              <a:rPr lang="en-US" sz="2000" dirty="0">
                <a:latin typeface="Times New Roman" panose="02020603050405020304" pitchFamily="18" charset="0"/>
                <a:cs typeface="Times New Roman" panose="02020603050405020304" pitchFamily="18" charset="0"/>
              </a:rPr>
              <a:t> Engineering College for their guidance and encouragement throughout the development of this project. Their insights and expertise have been invaluable.</a:t>
            </a:r>
          </a:p>
          <a:p>
            <a:pPr marL="241300" indent="-228600">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p>
          <a:p>
            <a:pPr marL="12700">
              <a:spcBef>
                <a:spcPts val="780"/>
              </a:spcBef>
              <a:tabLst>
                <a:tab pos="241300" algn="l"/>
              </a:tabLst>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Team No:BG6</a:t>
            </a:r>
          </a:p>
          <a:p>
            <a:r>
              <a:rPr lang="en-US" sz="2000" dirty="0">
                <a:latin typeface="Times New Roman" panose="02020603050405020304" pitchFamily="18" charset="0"/>
                <a:cs typeface="Times New Roman" panose="02020603050405020304" pitchFamily="18" charset="0"/>
              </a:rPr>
              <a:t> Guide: </a:t>
            </a:r>
            <a:r>
              <a:rPr lang="en-US" sz="2000" spc="90" dirty="0" err="1">
                <a:latin typeface="Times New Roman"/>
                <a:cs typeface="Times New Roman"/>
              </a:rPr>
              <a:t>Munnangi</a:t>
            </a:r>
            <a:r>
              <a:rPr lang="en-US" sz="2000" spc="90" dirty="0">
                <a:latin typeface="Times New Roman"/>
                <a:cs typeface="Times New Roman"/>
              </a:rPr>
              <a:t> Suresh</a:t>
            </a:r>
          </a:p>
          <a:p>
            <a:r>
              <a:rPr lang="en-US" sz="2000" spc="90" dirty="0">
                <a:latin typeface="Times New Roman"/>
                <a:cs typeface="Times New Roman"/>
              </a:rPr>
              <a:t> </a:t>
            </a:r>
            <a:r>
              <a:rPr lang="en-US" sz="2000" dirty="0">
                <a:latin typeface="Times New Roman" panose="02020603050405020304" pitchFamily="18" charset="0"/>
                <a:cs typeface="Times New Roman" panose="02020603050405020304" pitchFamily="18" charset="0"/>
              </a:rPr>
              <a:t>Roll No’s: 22471A0572</a:t>
            </a:r>
          </a:p>
          <a:p>
            <a:pPr marL="0" indent="0">
              <a:buNone/>
            </a:pPr>
            <a:r>
              <a:rPr lang="en-US" sz="2000" dirty="0">
                <a:latin typeface="Times New Roman" panose="02020603050405020304" pitchFamily="18" charset="0"/>
                <a:cs typeface="Times New Roman" panose="02020603050405020304" pitchFamily="18" charset="0"/>
              </a:rPr>
              <a:t>                   22471A05A9</a:t>
            </a:r>
          </a:p>
          <a:p>
            <a:pPr marL="0" indent="0">
              <a:buNone/>
            </a:pPr>
            <a:r>
              <a:rPr lang="en-US" sz="2000" dirty="0">
                <a:latin typeface="Times New Roman" panose="02020603050405020304" pitchFamily="18" charset="0"/>
                <a:cs typeface="Times New Roman" panose="02020603050405020304" pitchFamily="18" charset="0"/>
              </a:rPr>
              <a:t>                   22471A05C6</a:t>
            </a:r>
          </a:p>
          <a:p>
            <a:pPr marL="241300" indent="-228600">
              <a:spcBef>
                <a:spcPts val="780"/>
              </a:spcBef>
              <a:buFont typeface="Arial MT"/>
              <a:buChar char="•"/>
              <a:tabLst>
                <a:tab pos="241300" algn="l"/>
              </a:tabLst>
            </a:pPr>
            <a:endParaRPr lang="en-US" sz="2000" dirty="0">
              <a:latin typeface="Times New Roman" panose="02020603050405020304" pitchFamily="18" charset="0"/>
              <a:cs typeface="Times New Roman" panose="02020603050405020304" pitchFamily="18" charset="0"/>
            </a:endParaRPr>
          </a:p>
          <a:p>
            <a:pPr marL="241300" indent="-228600">
              <a:lnSpc>
                <a:spcPct val="100000"/>
              </a:lnSpc>
              <a:spcBef>
                <a:spcPts val="780"/>
              </a:spcBef>
              <a:buFont typeface="Arial MT"/>
              <a:buChar char="•"/>
              <a:tabLst>
                <a:tab pos="241300" algn="l"/>
              </a:tabLst>
            </a:pPr>
            <a:endParaRPr sz="2000" dirty="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4724400" y="3581400"/>
            <a:ext cx="2743200" cy="388567"/>
          </a:xfrm>
          <a:prstGeom prst="rect">
            <a:avLst/>
          </a:prstGeom>
        </p:spPr>
        <p:txBody>
          <a:bodyPr vert="horz" wrap="square" lIns="0" tIns="262889" rIns="0" bIns="0" rtlCol="0">
            <a:spAutoFit/>
          </a:bodyPr>
          <a:lstStyle/>
          <a:p>
            <a:pPr marL="1635125">
              <a:lnSpc>
                <a:spcPct val="100000"/>
              </a:lnSpc>
              <a:spcBef>
                <a:spcPts val="130"/>
              </a:spcBef>
            </a:pPr>
            <a:endParaRPr sz="800" b="0" spc="-10"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30</a:t>
            </a:fld>
            <a:endParaRPr spc="-25" dirty="0"/>
          </a:p>
        </p:txBody>
      </p:sp>
      <p:pic>
        <p:nvPicPr>
          <p:cNvPr id="10" name="Picture 9">
            <a:extLst>
              <a:ext uri="{FF2B5EF4-FFF2-40B4-BE49-F238E27FC236}">
                <a16:creationId xmlns:a16="http://schemas.microsoft.com/office/drawing/2014/main" id="{BE67DB2C-5E0A-E608-0F99-A7B735458DA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09144" y="1524000"/>
            <a:ext cx="7467600" cy="3505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769</TotalTime>
  <Words>2745</Words>
  <Application>Microsoft Office PowerPoint</Application>
  <PresentationFormat>Widescreen</PresentationFormat>
  <Paragraphs>384</Paragraphs>
  <Slides>30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MT</vt:lpstr>
      <vt:lpstr>Calibri</vt:lpstr>
      <vt:lpstr>Times New Roman</vt:lpstr>
      <vt:lpstr>Wingdings</vt:lpstr>
      <vt:lpstr>Office Theme</vt:lpstr>
      <vt:lpstr>Department of Computer Science and Engineering  Combining Deformable CNNs and Transformers for Real-Time Multi-Task Dense Prediction </vt:lpstr>
      <vt:lpstr>OUTLINE</vt:lpstr>
      <vt:lpstr>ABSTRACT</vt:lpstr>
      <vt:lpstr>INTRODUCTION </vt:lpstr>
      <vt:lpstr>INTRODUCTION</vt:lpstr>
      <vt:lpstr>INTRODUCTION</vt:lpstr>
      <vt:lpstr>Motivation for Multi-Task Learning</vt:lpstr>
      <vt:lpstr>Why Hybrid CNN + Transformer?</vt:lpstr>
      <vt:lpstr>LITERATURE SURVEY</vt:lpstr>
      <vt:lpstr>LITERATURE SURVEY</vt:lpstr>
      <vt:lpstr>RESEARCH GAPS</vt:lpstr>
      <vt:lpstr>PROBLEM STATEMENT</vt:lpstr>
      <vt:lpstr>OBJECTIVES</vt:lpstr>
      <vt:lpstr>NYUD-v2 Dataset Overview</vt:lpstr>
      <vt:lpstr>Preprocessing – Step 1</vt:lpstr>
      <vt:lpstr>Preprocessing – Step 2</vt:lpstr>
      <vt:lpstr>BLOCK DIAGRAM OR FLOW DIAGRAM</vt:lpstr>
      <vt:lpstr>METHODOLOGY</vt:lpstr>
      <vt:lpstr>METHODOLOGY</vt:lpstr>
      <vt:lpstr>Deformable Mixer Encoder</vt:lpstr>
      <vt:lpstr>Task Interaction Block</vt:lpstr>
      <vt:lpstr>Task Interaction Block</vt:lpstr>
      <vt:lpstr>IMPLEMENTATION</vt:lpstr>
      <vt:lpstr>RESULTS &amp; ANALYSIS</vt:lpstr>
      <vt:lpstr>RESULTS &amp; ANALYSIS</vt:lpstr>
      <vt:lpstr>RESULTS &amp; ANALYSIS</vt:lpstr>
      <vt:lpstr>CONCLUSION and FUTURE SCOPE</vt:lpstr>
      <vt:lpstr>REFERENCES</vt:lpstr>
      <vt:lpstr>ACKNOWLEGEMENTS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susmitha polisetty</dc:creator>
  <cp:lastModifiedBy>Anitha Ambati</cp:lastModifiedBy>
  <cp:revision>18</cp:revision>
  <dcterms:created xsi:type="dcterms:W3CDTF">2025-11-09T09:04:40Z</dcterms:created>
  <dcterms:modified xsi:type="dcterms:W3CDTF">2026-02-06T09:43:21Z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2024-12-19T00:00:00Z</vt:filetime>
  </property>
  <property fmtid="{D5CDD505-2E9C-101B-9397-08002B2CF9AE}" pid="3" name="LastSaved">
    <vt:filetime>2025-11-09T00:00:00Z</vt:filetime>
  </property>
</Properties>
</file>