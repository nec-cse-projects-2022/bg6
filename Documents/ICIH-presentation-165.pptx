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753100" cy="3238500"/>
  <p:notesSz cx="6858000" cy="9144000"/>
  <p:embeddedFontLst>
    <p:embeddedFont>
      <p:font typeface="DM Sans" pitchFamily="2" charset="0"/>
      <p:regular r:id="rId11"/>
      <p:bold r:id="rId12"/>
      <p:boldItalic r:id="rId13"/>
    </p:embeddedFont>
    <p:embeddedFont>
      <p:font typeface="IBM Plex Sans Condensed" panose="020B0506050203000203" pitchFamily="34" charset="0"/>
      <p:regular r:id="rId14"/>
      <p:bold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hvpx60kFJchDSxv1XZCtyUwYVs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70" d="100"/>
          <a:sy n="170" d="100"/>
        </p:scale>
        <p:origin x="744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customschemas.google.com/relationships/presentationmetadata" Target="metadata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85800"/>
            <a:ext cx="60896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82"/>
            <a:ext cx="57531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45861" y="1543050"/>
            <a:ext cx="5055257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u="sng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Combining Deformable CNNs and Transformers for Real-time Multi-Task Dense Prediction.</a:t>
            </a:r>
            <a:endParaRPr sz="11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68AB"/>
              </a:buClr>
              <a:buSzPts val="1100"/>
              <a:buFont typeface="Calibri"/>
              <a:buNone/>
            </a:pPr>
            <a:r>
              <a:rPr lang="en-US" sz="1100" b="1" i="0" u="sng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Paper Id : 165</a:t>
            </a:r>
            <a:endParaRPr sz="11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88576" y="2143174"/>
            <a:ext cx="4706471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Authors : 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Suresh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Munnangi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 Anitha Ambati, Kathyayani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Muthayla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 Harshini Sanagala, Srinivas Varanasi, </a:t>
            </a:r>
          </a:p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Sai Niranjan Kumar </a:t>
            </a:r>
            <a:r>
              <a:rPr lang="en-US" sz="1100" b="1" i="0" u="none" strike="noStrike" cap="none" dirty="0" err="1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Pathakota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</a:p>
          <a:p>
            <a:pPr lvl="0" algn="ctr">
              <a:buClr>
                <a:srgbClr val="1668AB"/>
              </a:buClr>
              <a:buSzPts val="1100"/>
            </a:pPr>
            <a:r>
              <a:rPr lang="en-US" sz="1100" b="1" i="0" u="none" strike="noStrike" cap="none" dirty="0">
                <a:solidFill>
                  <a:srgbClr val="1668AB"/>
                </a:solidFill>
                <a:latin typeface="Calibri"/>
                <a:ea typeface="Calibri"/>
                <a:cs typeface="Calibri"/>
                <a:sym typeface="Calibri"/>
              </a:rPr>
              <a:t>Sireesha Moturi</a:t>
            </a:r>
            <a:endParaRPr sz="1100" b="1" i="0" u="none" strike="noStrike" cap="none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323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-12324" y="111832"/>
            <a:ext cx="1801345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sp>
        <p:nvSpPr>
          <p:cNvPr id="93" name="Google Shape;93;p2"/>
          <p:cNvSpPr txBox="1"/>
          <p:nvPr/>
        </p:nvSpPr>
        <p:spPr>
          <a:xfrm>
            <a:off x="285749" y="458014"/>
            <a:ext cx="5238553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to solve / motivation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goal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4250D7-353B-5FB2-391B-59BFC90C5E90}"/>
              </a:ext>
            </a:extLst>
          </p:cNvPr>
          <p:cNvSpPr txBox="1"/>
          <p:nvPr/>
        </p:nvSpPr>
        <p:spPr>
          <a:xfrm>
            <a:off x="559063" y="671098"/>
            <a:ext cx="4965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A single RGB image must be used to predict multiple dense outputs — segmentation, </a:t>
            </a:r>
            <a:r>
              <a:rPr lang="en-US" sz="800" dirty="0" err="1"/>
              <a:t>boundaries,depth</a:t>
            </a:r>
            <a:r>
              <a:rPr lang="en-US" sz="800" dirty="0"/>
              <a:t>, and surface normals — each requiring different levels of spatial and semantic understanding.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Traditional CNNs capture </a:t>
            </a:r>
            <a:r>
              <a:rPr lang="en-US" sz="800" b="1" dirty="0"/>
              <a:t>only local features</a:t>
            </a:r>
            <a:r>
              <a:rPr lang="en-US" sz="800" dirty="0"/>
              <a:t>, while transformers capture </a:t>
            </a:r>
            <a:r>
              <a:rPr lang="en-US" sz="800" b="1" dirty="0"/>
              <a:t>global dependencies</a:t>
            </a:r>
            <a:r>
              <a:rPr lang="en-US" sz="800" dirty="0"/>
              <a:t>, making it difficult to efficiently perform all tasks in one unified model.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There is a need for a </a:t>
            </a:r>
            <a:r>
              <a:rPr lang="en-US" sz="800" b="1" dirty="0"/>
              <a:t>hybrid model</a:t>
            </a:r>
            <a:r>
              <a:rPr lang="en-US" sz="800" dirty="0"/>
              <a:t> that maintains accuracy, adaptability, and real-time performance for dense scene understanding</a:t>
            </a:r>
            <a:endParaRPr lang="en-IN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426F7-85C5-3F87-2D64-538A0EEA0560}"/>
              </a:ext>
            </a:extLst>
          </p:cNvPr>
          <p:cNvSpPr txBox="1"/>
          <p:nvPr/>
        </p:nvSpPr>
        <p:spPr>
          <a:xfrm>
            <a:off x="559063" y="1849503"/>
            <a:ext cx="4908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To design and implement a </a:t>
            </a:r>
            <a:r>
              <a:rPr lang="en-US" sz="800" b="1" dirty="0"/>
              <a:t>Deformable Mixer Transformer (</a:t>
            </a:r>
            <a:r>
              <a:rPr lang="en-US" sz="800" b="1" dirty="0" err="1"/>
              <a:t>DeMT</a:t>
            </a:r>
            <a:r>
              <a:rPr lang="en-US" sz="800" b="1" dirty="0"/>
              <a:t>)</a:t>
            </a:r>
            <a:r>
              <a:rPr lang="en-US" sz="800" dirty="0"/>
              <a:t> that integrates </a:t>
            </a:r>
            <a:r>
              <a:rPr lang="en-US" sz="800" b="1" dirty="0"/>
              <a:t>deformable convolutions</a:t>
            </a:r>
            <a:r>
              <a:rPr lang="en-US" sz="800" dirty="0"/>
              <a:t> with </a:t>
            </a:r>
            <a:r>
              <a:rPr lang="en-US" sz="800" b="1" dirty="0"/>
              <a:t>transformer-based task decoding</a:t>
            </a:r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23D1A-76F1-779F-84DD-AA88271B0338}"/>
              </a:ext>
            </a:extLst>
          </p:cNvPr>
          <p:cNvSpPr txBox="1"/>
          <p:nvPr/>
        </p:nvSpPr>
        <p:spPr>
          <a:xfrm>
            <a:off x="634869" y="2400233"/>
            <a:ext cx="496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A unified architecture that predicts segmentation, depth, surface normals, and boundaries </a:t>
            </a:r>
            <a:r>
              <a:rPr lang="en-IN" sz="800" dirty="0"/>
              <a:t>simultaneously.</a:t>
            </a:r>
            <a:endParaRPr lang="en-US" sz="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Improved accuracy and computational efficiency over traditional models.</a:t>
            </a:r>
            <a:endParaRPr lang="en-IN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429" y="0"/>
            <a:ext cx="5769531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-2429" y="111832"/>
            <a:ext cx="1791450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sp>
        <p:nvSpPr>
          <p:cNvPr id="100" name="Google Shape;100;p3"/>
          <p:cNvSpPr txBox="1"/>
          <p:nvPr/>
        </p:nvSpPr>
        <p:spPr>
          <a:xfrm>
            <a:off x="209549" y="469885"/>
            <a:ext cx="5428461" cy="2292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context</a:t>
            </a: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IN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the problem</a:t>
            </a: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overview of technology</a:t>
            </a: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challenges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88EEAA-A202-E384-BE2A-2833E3499198}"/>
              </a:ext>
            </a:extLst>
          </p:cNvPr>
          <p:cNvSpPr txBox="1"/>
          <p:nvPr/>
        </p:nvSpPr>
        <p:spPr>
          <a:xfrm>
            <a:off x="487997" y="705582"/>
            <a:ext cx="498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Dense prediction tasks such as segmentation, depth, and boundary detection are critical in computer vision for robotics, AR/VR, and smart vision systems.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Each task requires understanding both </a:t>
            </a:r>
            <a:r>
              <a:rPr lang="en-US" sz="800" b="1" dirty="0"/>
              <a:t>local textures</a:t>
            </a:r>
            <a:r>
              <a:rPr lang="en-US" sz="800" dirty="0"/>
              <a:t> and </a:t>
            </a:r>
            <a:r>
              <a:rPr lang="en-US" sz="800" b="1" dirty="0"/>
              <a:t>global structures</a:t>
            </a:r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7107F-BDED-629B-B3FE-6A9A022EDACA}"/>
              </a:ext>
            </a:extLst>
          </p:cNvPr>
          <p:cNvSpPr txBox="1"/>
          <p:nvPr/>
        </p:nvSpPr>
        <p:spPr>
          <a:xfrm flipH="1">
            <a:off x="487997" y="1324356"/>
            <a:ext cx="48941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800" dirty="0"/>
              <a:t>Multi-task learning reduces computation cost and memory usage while improving generalization.</a:t>
            </a:r>
            <a:endParaRPr lang="en-IN" sz="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5ED8B-2779-0FBA-B947-D685C653C816}"/>
              </a:ext>
            </a:extLst>
          </p:cNvPr>
          <p:cNvSpPr txBox="1"/>
          <p:nvPr/>
        </p:nvSpPr>
        <p:spPr>
          <a:xfrm>
            <a:off x="514596" y="1743616"/>
            <a:ext cx="4988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b="1" dirty="0"/>
              <a:t>Semantic Segmentation</a:t>
            </a:r>
            <a:r>
              <a:rPr lang="en-US" sz="800" dirty="0"/>
              <a:t> – classifies each pixel in the image.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b="1" dirty="0"/>
              <a:t>Depth Estimation</a:t>
            </a:r>
            <a:r>
              <a:rPr lang="en-US" sz="800" dirty="0"/>
              <a:t> – predicts distance from the camera for each pixel.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/>
              <a:t>Surface Normal Prediction</a:t>
            </a:r>
            <a:r>
              <a:rPr lang="en-IN" sz="800" dirty="0"/>
              <a:t> – identifies object orientation and geometry.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b="1" dirty="0"/>
              <a:t>Boundary Detection</a:t>
            </a:r>
            <a:r>
              <a:rPr lang="en-US" sz="800" dirty="0"/>
              <a:t> – locates object edges and shape transitions.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1A355-1793-1B16-6071-0DB38D0625E1}"/>
              </a:ext>
            </a:extLst>
          </p:cNvPr>
          <p:cNvSpPr txBox="1"/>
          <p:nvPr/>
        </p:nvSpPr>
        <p:spPr>
          <a:xfrm>
            <a:off x="514596" y="2507418"/>
            <a:ext cx="4756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dirty="0"/>
              <a:t>CNNs lack long-range reasoning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dirty="0"/>
              <a:t>Transformers are computationally heavy.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Balancing multiple losses and tasks is difficult.</a:t>
            </a:r>
            <a:endParaRPr lang="en-IN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0"/>
            <a:ext cx="5769532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0" y="95250"/>
            <a:ext cx="178902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209550" y="461562"/>
            <a:ext cx="5307330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review of similar technologies/research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of current works</a:t>
            </a:r>
            <a:endParaRPr sz="11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Novelty of our approach</a:t>
            </a: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1100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9A81C-1956-E347-DF95-C940D65C7071}"/>
              </a:ext>
            </a:extLst>
          </p:cNvPr>
          <p:cNvSpPr txBox="1"/>
          <p:nvPr/>
        </p:nvSpPr>
        <p:spPr>
          <a:xfrm>
            <a:off x="533400" y="691214"/>
            <a:ext cx="4861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b="1" dirty="0"/>
              <a:t>Cross-Stitch Networks (Misra et al.)</a:t>
            </a:r>
            <a:r>
              <a:rPr lang="en-US" sz="800" dirty="0"/>
              <a:t> – flexible parameter sharing, limited scene </a:t>
            </a:r>
            <a:r>
              <a:rPr lang="en-IN" sz="800" dirty="0"/>
              <a:t>context.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/>
              <a:t>MTI-Net (</a:t>
            </a:r>
            <a:r>
              <a:rPr lang="en-IN" sz="800" b="1" dirty="0" err="1"/>
              <a:t>Vandenhende</a:t>
            </a:r>
            <a:r>
              <a:rPr lang="en-IN" sz="800" b="1" dirty="0"/>
              <a:t> et al.)</a:t>
            </a:r>
            <a:r>
              <a:rPr lang="en-IN" sz="800" dirty="0"/>
              <a:t> – multi-scale CNN, lacked global reasoning.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 err="1"/>
              <a:t>MulT</a:t>
            </a:r>
            <a:r>
              <a:rPr lang="en-IN" sz="800" b="1" dirty="0"/>
              <a:t> (Bhattacharjee et al.)</a:t>
            </a:r>
            <a:r>
              <a:rPr lang="en-IN" sz="800" dirty="0"/>
              <a:t> – transformer-based multi-task model, computation-heavy.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A52B0-AE8C-9E75-F1AB-91B72843AE33}"/>
              </a:ext>
            </a:extLst>
          </p:cNvPr>
          <p:cNvSpPr txBox="1"/>
          <p:nvPr/>
        </p:nvSpPr>
        <p:spPr>
          <a:xfrm>
            <a:off x="533400" y="1322053"/>
            <a:ext cx="4958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CNN-based models </a:t>
            </a:r>
            <a:r>
              <a:rPr lang="en-US" sz="800" b="1" dirty="0"/>
              <a:t>fail to capture long-range global context</a:t>
            </a:r>
            <a:r>
              <a:rPr lang="en-US" sz="800" dirty="0"/>
              <a:t>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Transformer models are </a:t>
            </a:r>
            <a:r>
              <a:rPr lang="en-US" sz="800" b="1" dirty="0"/>
              <a:t>computationally heavy</a:t>
            </a:r>
            <a:r>
              <a:rPr lang="en-US" sz="800" dirty="0"/>
              <a:t> and less practical for real-time systems.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No unified framework efficiently processes </a:t>
            </a:r>
            <a:r>
              <a:rPr lang="en-US" sz="800" b="1" dirty="0"/>
              <a:t>segmentation, depth, normals, and boundaries simultaneously</a:t>
            </a:r>
            <a:r>
              <a:rPr lang="en-US" sz="800" dirty="0"/>
              <a:t>.</a:t>
            </a:r>
            <a:endParaRPr lang="en-IN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D658D-C0DA-4F1A-8618-5E27EFF30177}"/>
              </a:ext>
            </a:extLst>
          </p:cNvPr>
          <p:cNvSpPr txBox="1"/>
          <p:nvPr/>
        </p:nvSpPr>
        <p:spPr>
          <a:xfrm>
            <a:off x="533400" y="2003899"/>
            <a:ext cx="49238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dirty="0" err="1"/>
              <a:t>DeMT</a:t>
            </a:r>
            <a:r>
              <a:rPr lang="en-IN" sz="800" dirty="0"/>
              <a:t> uses </a:t>
            </a:r>
            <a:r>
              <a:rPr lang="en-IN" sz="800" b="1" dirty="0"/>
              <a:t>Deformable Convolutions</a:t>
            </a:r>
            <a:r>
              <a:rPr lang="en-IN" sz="800" dirty="0"/>
              <a:t> to adapt sampling locations → improves fine local feature understanding.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Introduces </a:t>
            </a:r>
            <a:r>
              <a:rPr lang="en-US" sz="800" b="1" dirty="0"/>
              <a:t>Task Query–based Transformer Decoder</a:t>
            </a:r>
            <a:r>
              <a:rPr lang="en-US" sz="800" dirty="0"/>
              <a:t> for global contextual reasoning across tasks.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Provides a </a:t>
            </a:r>
            <a:r>
              <a:rPr lang="en-US" sz="800" b="1" dirty="0"/>
              <a:t>balanced multi-task architecture</a:t>
            </a:r>
            <a:r>
              <a:rPr lang="en-US" sz="800" dirty="0"/>
              <a:t> that predicts segmentation, depth, normals, and boundaries in a single forward pass.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dirty="0"/>
              <a:t>Achieves </a:t>
            </a:r>
            <a:r>
              <a:rPr lang="en-US" sz="800" b="1" dirty="0"/>
              <a:t>high accuracy + real-time efficiency</a:t>
            </a:r>
            <a:r>
              <a:rPr lang="en-US" sz="800" dirty="0"/>
              <a:t>, overcoming limitations of both CNN-only and Transformer-only models.</a:t>
            </a:r>
            <a:endParaRPr lang="en-IN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9476"/>
            <a:ext cx="5761316" cy="323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 txBox="1"/>
          <p:nvPr/>
        </p:nvSpPr>
        <p:spPr>
          <a:xfrm>
            <a:off x="268503" y="688303"/>
            <a:ext cx="3392448" cy="238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8746" marR="0" lvl="1" indent="0" algn="just" rtl="0">
              <a:lnSpc>
                <a:spcPct val="85555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268503" y="430197"/>
            <a:ext cx="2874872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 workflow</a:t>
            </a:r>
          </a:p>
        </p:txBody>
      </p:sp>
      <p:sp>
        <p:nvSpPr>
          <p:cNvPr id="115" name="Google Shape;115;p5"/>
          <p:cNvSpPr txBox="1"/>
          <p:nvPr/>
        </p:nvSpPr>
        <p:spPr>
          <a:xfrm>
            <a:off x="-19050" y="111832"/>
            <a:ext cx="18080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C6E6FB-DF00-EFB4-E064-523DDEDBC982}"/>
              </a:ext>
            </a:extLst>
          </p:cNvPr>
          <p:cNvSpPr txBox="1"/>
          <p:nvPr/>
        </p:nvSpPr>
        <p:spPr>
          <a:xfrm>
            <a:off x="3330690" y="430197"/>
            <a:ext cx="1743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diagram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EF7FE-88A5-7B91-300E-A4FD62A67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964" y="706238"/>
            <a:ext cx="2355105" cy="2102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F103754-6A01-1825-AA80-6660AF303C19}"/>
              </a:ext>
            </a:extLst>
          </p:cNvPr>
          <p:cNvSpPr txBox="1"/>
          <p:nvPr/>
        </p:nvSpPr>
        <p:spPr>
          <a:xfrm>
            <a:off x="540435" y="688303"/>
            <a:ext cx="28095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IN" sz="800" dirty="0"/>
              <a:t>Load </a:t>
            </a:r>
            <a:r>
              <a:rPr lang="en-IN" sz="800" b="1" dirty="0"/>
              <a:t>NYUD-v2 Dataset</a:t>
            </a:r>
            <a:r>
              <a:rPr lang="en-IN" sz="800" dirty="0"/>
              <a:t> (RGB + Depth).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800" b="1" dirty="0"/>
              <a:t>Preprocessing:</a:t>
            </a:r>
            <a:r>
              <a:rPr lang="en-US" sz="800" dirty="0"/>
              <a:t> Resize → Normalize → Generate Segmentation (K-means), Normals (gradient), and Boundaries (Canny).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800" b="1" dirty="0"/>
              <a:t>Feature Extraction:</a:t>
            </a:r>
            <a:r>
              <a:rPr lang="en-US" sz="800" dirty="0"/>
              <a:t> DeepLabV3 + ResNet-101 backbone extracts semantic and spatial features.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800" b="1" dirty="0"/>
              <a:t>Deformable Mixer Encoder:</a:t>
            </a:r>
            <a:r>
              <a:rPr lang="en-IN" sz="800" dirty="0"/>
              <a:t> Learns local adaptive sampling.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800" b="1" dirty="0"/>
              <a:t>Transformer Decoder:</a:t>
            </a:r>
            <a:r>
              <a:rPr lang="en-IN" sz="800" dirty="0"/>
              <a:t> Enhances inter-task feature sharing.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800" b="1" dirty="0"/>
              <a:t>Task Heads:</a:t>
            </a:r>
            <a:r>
              <a:rPr lang="en-US" sz="800" dirty="0"/>
              <a:t> Outputs Segmentation, Depth, Normals, and Boundaries.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800" b="1" dirty="0"/>
              <a:t>Loss Calculation:</a:t>
            </a:r>
            <a:r>
              <a:rPr lang="en-US" sz="800" dirty="0"/>
              <a:t> Weighted sum of all task losses.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800" b="1" dirty="0"/>
              <a:t>Evaluation</a:t>
            </a:r>
            <a:r>
              <a:rPr lang="en-IN" sz="800" dirty="0"/>
              <a:t>: Quantitative (metrics) and qualitative (visual results).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434" y="-9017"/>
            <a:ext cx="5785594" cy="32475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6"/>
          <p:cNvGrpSpPr/>
          <p:nvPr/>
        </p:nvGrpSpPr>
        <p:grpSpPr>
          <a:xfrm>
            <a:off x="1894836" y="49385"/>
            <a:ext cx="1989385" cy="338383"/>
            <a:chOff x="0" y="-18316"/>
            <a:chExt cx="2652513" cy="451178"/>
          </a:xfrm>
        </p:grpSpPr>
        <p:sp>
          <p:nvSpPr>
            <p:cNvPr id="122" name="Google Shape;122;p6"/>
            <p:cNvSpPr txBox="1"/>
            <p:nvPr/>
          </p:nvSpPr>
          <p:spPr>
            <a:xfrm>
              <a:off x="175023" y="-18316"/>
              <a:ext cx="2335620" cy="365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just" rtl="0">
                <a:lnSpc>
                  <a:spcPct val="49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0" y="-6661"/>
              <a:ext cx="2652513" cy="4395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just" rtl="0">
                <a:lnSpc>
                  <a:spcPct val="1400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30" b="1" i="0" u="none" strike="noStrike" cap="none">
                <a:solidFill>
                  <a:srgbClr val="65A43D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24" name="Google Shape;124;p6"/>
          <p:cNvSpPr txBox="1"/>
          <p:nvPr/>
        </p:nvSpPr>
        <p:spPr>
          <a:xfrm>
            <a:off x="207645" y="358053"/>
            <a:ext cx="5454054" cy="1831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90196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</a:p>
          <a:p>
            <a:pPr marL="11874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endParaRPr lang="en-US"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874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endParaRPr lang="en-US" sz="800" dirty="0"/>
          </a:p>
          <a:p>
            <a:pPr marL="290196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0196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lang="en-US" sz="1100" dirty="0">
              <a:latin typeface="Calibri"/>
              <a:ea typeface="Calibri"/>
              <a:cs typeface="Calibri"/>
              <a:sym typeface="Calibri"/>
            </a:endParaRPr>
          </a:p>
          <a:p>
            <a:pPr marL="290196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874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endParaRPr lang="en-US" sz="1100" dirty="0">
              <a:latin typeface="Calibri"/>
              <a:ea typeface="Calibri"/>
              <a:cs typeface="Calibri"/>
              <a:sym typeface="Calibri"/>
            </a:endParaRPr>
          </a:p>
          <a:p>
            <a:pPr marL="290196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Brief observations &amp; insights</a:t>
            </a:r>
            <a:endParaRPr b="1" dirty="0"/>
          </a:p>
        </p:txBody>
      </p:sp>
      <p:sp>
        <p:nvSpPr>
          <p:cNvPr id="125" name="Google Shape;125;p6"/>
          <p:cNvSpPr txBox="1"/>
          <p:nvPr/>
        </p:nvSpPr>
        <p:spPr>
          <a:xfrm>
            <a:off x="-5434" y="111832"/>
            <a:ext cx="1794456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C7DB84-E672-CF06-17C2-98A5C64FA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737716"/>
              </p:ext>
            </p:extLst>
          </p:nvPr>
        </p:nvGraphicFramePr>
        <p:xfrm>
          <a:off x="351813" y="564935"/>
          <a:ext cx="2675883" cy="1402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77952">
                  <a:extLst>
                    <a:ext uri="{9D8B030D-6E8A-4147-A177-3AD203B41FA5}">
                      <a16:colId xmlns:a16="http://schemas.microsoft.com/office/drawing/2014/main" val="1850070610"/>
                    </a:ext>
                  </a:extLst>
                </a:gridCol>
                <a:gridCol w="854171">
                  <a:extLst>
                    <a:ext uri="{9D8B030D-6E8A-4147-A177-3AD203B41FA5}">
                      <a16:colId xmlns:a16="http://schemas.microsoft.com/office/drawing/2014/main" val="2090341569"/>
                    </a:ext>
                  </a:extLst>
                </a:gridCol>
                <a:gridCol w="543760">
                  <a:extLst>
                    <a:ext uri="{9D8B030D-6E8A-4147-A177-3AD203B41FA5}">
                      <a16:colId xmlns:a16="http://schemas.microsoft.com/office/drawing/2014/main" val="463310969"/>
                    </a:ext>
                  </a:extLst>
                </a:gridCol>
              </a:tblGrid>
              <a:tr h="201348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2453139"/>
                  </a:ext>
                </a:extLst>
              </a:tr>
              <a:tr h="201348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Semantic Segmentation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Pixel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99.8%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80086"/>
                  </a:ext>
                </a:extLst>
              </a:tr>
              <a:tr h="201348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Depth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0.16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575342"/>
                  </a:ext>
                </a:extLst>
              </a:tr>
              <a:tr h="316404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Surface Normal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Mean Angular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782995"/>
                  </a:ext>
                </a:extLst>
              </a:tr>
              <a:tr h="201348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Boundary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99.9%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769557"/>
                  </a:ext>
                </a:extLst>
              </a:tr>
              <a:tr h="201348"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Overall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dirty="0"/>
                        <a:t>0.14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0444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910F55-39B3-BFDB-B8BC-2FB3A8A82551}"/>
              </a:ext>
            </a:extLst>
          </p:cNvPr>
          <p:cNvSpPr txBox="1"/>
          <p:nvPr/>
        </p:nvSpPr>
        <p:spPr>
          <a:xfrm>
            <a:off x="3126964" y="342664"/>
            <a:ext cx="11939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BC5C6-1F1D-9F79-B1F0-C8A182833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4112" y="552558"/>
            <a:ext cx="1333444" cy="872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C2A059-F8DE-C661-F8D0-FD3C69953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3862" y="1450245"/>
            <a:ext cx="1260133" cy="8724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C58034-0AD6-0D39-A36B-C09305587B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1915" y="562366"/>
            <a:ext cx="1343583" cy="8724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7BADA7-CE73-A2B0-C759-D2DF2706BE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82" y="1432580"/>
            <a:ext cx="1328731" cy="8724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19C651-3C0A-9A3E-6BA4-6519AB5CA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9677" y="2312601"/>
            <a:ext cx="2325778" cy="6864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2EB226-4651-5FC6-C2A6-6899A2957E2D}"/>
              </a:ext>
            </a:extLst>
          </p:cNvPr>
          <p:cNvSpPr txBox="1"/>
          <p:nvPr/>
        </p:nvSpPr>
        <p:spPr>
          <a:xfrm>
            <a:off x="397977" y="2231515"/>
            <a:ext cx="2626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 err="1"/>
              <a:t>DeMT</a:t>
            </a:r>
            <a:r>
              <a:rPr lang="en-US" sz="800" dirty="0"/>
              <a:t> achieves superior performance in multi-task learning compared to single-task baselines.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Training converges smoothly with stable task balance.</a:t>
            </a:r>
            <a:endParaRPr lang="en-IN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0079"/>
            <a:ext cx="5795928" cy="3253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239602" y="460408"/>
            <a:ext cx="5300138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7491" marR="0" lvl="1" indent="-11874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Main findings</a:t>
            </a:r>
          </a:p>
          <a:p>
            <a:pPr marL="237491" marR="0" lvl="1" indent="-11874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endParaRPr lang="en-US"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90196" marR="0" lvl="1" indent="-1714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1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Advantages of our solution</a:t>
            </a:r>
            <a:endParaRPr lang="en-US" sz="1100" dirty="0">
              <a:latin typeface="Calibri"/>
              <a:ea typeface="Calibri"/>
              <a:cs typeface="Calibri"/>
              <a:sym typeface="Calibri"/>
            </a:endParaRPr>
          </a:p>
          <a:p>
            <a:pPr marL="11874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endParaRPr lang="en-US" dirty="0">
              <a:ea typeface="Calibri"/>
            </a:endParaRPr>
          </a:p>
          <a:p>
            <a:pPr marL="118746" marR="0" lvl="1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</a:pPr>
            <a:endParaRPr dirty="0"/>
          </a:p>
          <a:p>
            <a:pPr marL="237491" marR="0" lvl="1" indent="-11874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dirty="0"/>
          </a:p>
        </p:txBody>
      </p:sp>
      <p:sp>
        <p:nvSpPr>
          <p:cNvPr id="132" name="Google Shape;132;p7"/>
          <p:cNvSpPr txBox="1"/>
          <p:nvPr/>
        </p:nvSpPr>
        <p:spPr>
          <a:xfrm>
            <a:off x="-19050" y="111832"/>
            <a:ext cx="18080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FE6BC1-2D16-98F3-AF01-0C350F8DD2BD}"/>
              </a:ext>
            </a:extLst>
          </p:cNvPr>
          <p:cNvSpPr txBox="1"/>
          <p:nvPr/>
        </p:nvSpPr>
        <p:spPr>
          <a:xfrm flipH="1">
            <a:off x="499110" y="673477"/>
            <a:ext cx="5040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 err="1"/>
              <a:t>DeMT</a:t>
            </a:r>
            <a:r>
              <a:rPr lang="en-US" sz="800" dirty="0"/>
              <a:t> successfully integrates </a:t>
            </a:r>
            <a:r>
              <a:rPr lang="en-US" sz="800" b="1" dirty="0"/>
              <a:t>local adaptability</a:t>
            </a:r>
            <a:r>
              <a:rPr lang="en-US" sz="800" dirty="0"/>
              <a:t> and </a:t>
            </a:r>
            <a:r>
              <a:rPr lang="en-US" sz="800" b="1" dirty="0"/>
              <a:t>global reasoning.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Produces accurate, detailed outputs across multiple dense tasks.</a:t>
            </a:r>
            <a:endParaRPr lang="en-IN" sz="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7B231-E3FA-CE5C-7E8C-CBF725E6C10E}"/>
              </a:ext>
            </a:extLst>
          </p:cNvPr>
          <p:cNvSpPr txBox="1"/>
          <p:nvPr/>
        </p:nvSpPr>
        <p:spPr>
          <a:xfrm>
            <a:off x="472868" y="1168310"/>
            <a:ext cx="50406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800" dirty="0"/>
              <a:t>Real-time efficient, High accuracy and stability, Unified model for all dense tasks.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90B19-B83A-5C8D-0FCC-3831CDD568A8}"/>
              </a:ext>
            </a:extLst>
          </p:cNvPr>
          <p:cNvSpPr txBox="1"/>
          <p:nvPr/>
        </p:nvSpPr>
        <p:spPr>
          <a:xfrm>
            <a:off x="472868" y="1502838"/>
            <a:ext cx="4953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800" dirty="0"/>
              <a:t>Hybrid Deformable + Transformer model, Custom preprocessing pipeline for NYUD-v2.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800" dirty="0"/>
              <a:t>Balanced multi-task loss mechanism.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B0981-64A0-85B8-FAF5-BF7BFC636F14}"/>
              </a:ext>
            </a:extLst>
          </p:cNvPr>
          <p:cNvSpPr txBox="1"/>
          <p:nvPr/>
        </p:nvSpPr>
        <p:spPr>
          <a:xfrm>
            <a:off x="467795" y="1956039"/>
            <a:ext cx="4953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High training time on large datasets, </a:t>
            </a:r>
            <a:r>
              <a:rPr lang="en-IN" sz="800" dirty="0"/>
              <a:t>Requires GPU for efficient performance.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24E12D-7F67-7D51-0B68-C866694A3CDA}"/>
              </a:ext>
            </a:extLst>
          </p:cNvPr>
          <p:cNvSpPr txBox="1"/>
          <p:nvPr/>
        </p:nvSpPr>
        <p:spPr>
          <a:xfrm>
            <a:off x="235730" y="1313674"/>
            <a:ext cx="2204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latin typeface="Calibri"/>
                <a:ea typeface="Calibri"/>
                <a:cs typeface="Calibri"/>
                <a:sym typeface="Calibri"/>
              </a:rPr>
              <a:t>Key contributions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29296-896C-A654-CCC5-D7D6C4C3FF1F}"/>
              </a:ext>
            </a:extLst>
          </p:cNvPr>
          <p:cNvSpPr txBox="1"/>
          <p:nvPr/>
        </p:nvSpPr>
        <p:spPr>
          <a:xfrm>
            <a:off x="235730" y="2133186"/>
            <a:ext cx="349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100" dirty="0"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73C28C-00EE-364E-0860-AD1FBAFF06C9}"/>
              </a:ext>
            </a:extLst>
          </p:cNvPr>
          <p:cNvSpPr txBox="1"/>
          <p:nvPr/>
        </p:nvSpPr>
        <p:spPr>
          <a:xfrm>
            <a:off x="472868" y="2334190"/>
            <a:ext cx="4947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Apply to outdoor datasets (Cityscapes, PASCAL).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IN" sz="800" dirty="0"/>
              <a:t>Optimize for edge deployment.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800" dirty="0"/>
              <a:t>Add instance segmentation and object detection heads.</a:t>
            </a:r>
            <a:endParaRPr lang="en-IN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36719"/>
            <a:ext cx="5791200" cy="325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8"/>
          <p:cNvSpPr txBox="1"/>
          <p:nvPr/>
        </p:nvSpPr>
        <p:spPr>
          <a:xfrm>
            <a:off x="268503" y="688303"/>
            <a:ext cx="2631877" cy="23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37491" marR="0" lvl="1" indent="-118745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-US" sz="1100" dirty="0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eferences</a:t>
            </a:r>
            <a:endParaRPr dirty="0"/>
          </a:p>
        </p:txBody>
      </p:sp>
      <p:sp>
        <p:nvSpPr>
          <p:cNvPr id="139" name="Google Shape;139;p8"/>
          <p:cNvSpPr txBox="1"/>
          <p:nvPr/>
        </p:nvSpPr>
        <p:spPr>
          <a:xfrm>
            <a:off x="-19050" y="111832"/>
            <a:ext cx="1808072" cy="281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22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Paper_id</a:t>
            </a:r>
            <a:r>
              <a:rPr lang="en-US" sz="1100" b="1" i="0" u="none" strike="noStrike" cap="none" dirty="0">
                <a:solidFill>
                  <a:srgbClr val="1668AB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rPr>
              <a:t> : 165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8EAD3C-BA33-6B71-9181-9B9300F1E647}"/>
              </a:ext>
            </a:extLst>
          </p:cNvPr>
          <p:cNvSpPr txBox="1"/>
          <p:nvPr/>
        </p:nvSpPr>
        <p:spPr>
          <a:xfrm>
            <a:off x="502465" y="983145"/>
            <a:ext cx="49699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/>
              <a:t>H. Zhang, Y. Wang, G. Wang, and Y. Shan</a:t>
            </a:r>
            <a:r>
              <a:rPr lang="en-IN" sz="800" dirty="0"/>
              <a:t>, “</a:t>
            </a:r>
            <a:r>
              <a:rPr lang="en-IN" sz="800" i="1" dirty="0"/>
              <a:t>Deformable Mixer Transformer for Multi-Task Dense Prediction</a:t>
            </a:r>
            <a:r>
              <a:rPr lang="en-IN" sz="800" dirty="0"/>
              <a:t>,” </a:t>
            </a:r>
            <a:r>
              <a:rPr lang="en-IN" sz="800" i="1" dirty="0"/>
              <a:t>IEEE Transactions on Pattern Analysis and Machine Intelligence (TPAMI)</a:t>
            </a:r>
            <a:r>
              <a:rPr lang="en-IN" sz="800" dirty="0"/>
              <a:t>, 2023.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/>
              <a:t>S. </a:t>
            </a:r>
            <a:r>
              <a:rPr lang="en-IN" sz="800" b="1" dirty="0" err="1"/>
              <a:t>Vandenhende</a:t>
            </a:r>
            <a:r>
              <a:rPr lang="en-IN" sz="800" b="1" dirty="0"/>
              <a:t>, M. </a:t>
            </a:r>
            <a:r>
              <a:rPr lang="en-IN" sz="800" b="1" dirty="0" err="1"/>
              <a:t>Brabandere</a:t>
            </a:r>
            <a:r>
              <a:rPr lang="en-IN" sz="800" b="1" dirty="0"/>
              <a:t>, and L. Van Gool</a:t>
            </a:r>
            <a:r>
              <a:rPr lang="en-IN" sz="800" dirty="0"/>
              <a:t>, “</a:t>
            </a:r>
            <a:r>
              <a:rPr lang="en-IN" sz="800" i="1" dirty="0"/>
              <a:t>MTI-Net: Multi-Task Learning Through Multi-Scale T</a:t>
            </a:r>
            <a:r>
              <a:rPr lang="en-US" sz="800" i="1" dirty="0"/>
              <a:t>ask Interaction</a:t>
            </a:r>
            <a:r>
              <a:rPr lang="en-US" sz="800" dirty="0"/>
              <a:t>,” in </a:t>
            </a:r>
            <a:r>
              <a:rPr lang="en-US" sz="800" i="1" dirty="0"/>
              <a:t>Proc. IEEE/CVF Conf. on Computer Vision and Pattern Recognition (CVPR)</a:t>
            </a:r>
            <a:r>
              <a:rPr lang="en-US" sz="800" dirty="0"/>
              <a:t>, 2020, pp.</a:t>
            </a:r>
            <a:r>
              <a:rPr lang="en-IN" sz="800" dirty="0"/>
              <a:t> 4824–4833.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/>
              <a:t>D. Bhattacharjee, S. N. Rai, and V. Gandhi</a:t>
            </a:r>
            <a:r>
              <a:rPr lang="en-IN" sz="800" dirty="0"/>
              <a:t>, “</a:t>
            </a:r>
            <a:r>
              <a:rPr lang="en-IN" sz="800" i="1" dirty="0" err="1"/>
              <a:t>MulT</a:t>
            </a:r>
            <a:r>
              <a:rPr lang="en-IN" sz="800" i="1" dirty="0"/>
              <a:t>: Transformer for Multi-Task Learning</a:t>
            </a:r>
            <a:r>
              <a:rPr lang="en-IN" sz="800" dirty="0"/>
              <a:t>,” in </a:t>
            </a:r>
            <a:r>
              <a:rPr lang="en-IN" sz="800" i="1" dirty="0"/>
              <a:t>European Conf. on Computer Vision (ECCV)</a:t>
            </a:r>
            <a:r>
              <a:rPr lang="en-IN" sz="800" dirty="0"/>
              <a:t>, 2022.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b="1" dirty="0"/>
              <a:t>O. Sener and V. Koltun</a:t>
            </a:r>
            <a:r>
              <a:rPr lang="en-US" sz="800" dirty="0"/>
              <a:t>, “</a:t>
            </a:r>
            <a:r>
              <a:rPr lang="en-US" sz="800" i="1" dirty="0"/>
              <a:t>Multi-Task Learning as Multi-Objective Optimization (GradNorm)</a:t>
            </a:r>
            <a:r>
              <a:rPr lang="en-US" sz="800" dirty="0"/>
              <a:t>,” in </a:t>
            </a:r>
            <a:r>
              <a:rPr lang="en-US" sz="800" i="1" dirty="0"/>
              <a:t>Proc. Int. Conf. on Machine Learning (ICML)</a:t>
            </a:r>
            <a:r>
              <a:rPr lang="en-US" sz="800" dirty="0"/>
              <a:t>, 2018, pp. 4423–4432.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800" b="1" dirty="0"/>
              <a:t>A. Kendall, Y. Gal, and R. Cipolla</a:t>
            </a:r>
            <a:r>
              <a:rPr lang="en-US" sz="800" dirty="0"/>
              <a:t>, “</a:t>
            </a:r>
            <a:r>
              <a:rPr lang="en-US" sz="800" i="1" dirty="0"/>
              <a:t>Multi-Task Learning Using Uncertainty to Weigh Losses</a:t>
            </a:r>
            <a:r>
              <a:rPr lang="en-US" sz="800" dirty="0"/>
              <a:t>,” in </a:t>
            </a:r>
            <a:r>
              <a:rPr lang="en-US" sz="800" i="1" dirty="0"/>
              <a:t>Proc. IEEE/CVF Conf. on Computer Vision and Pattern Recognition (CVPR)</a:t>
            </a:r>
            <a:r>
              <a:rPr lang="en-US" sz="800" dirty="0"/>
              <a:t>, 2018, pp. 7482–7491.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sz="800" b="1" dirty="0"/>
              <a:t>D. Xu, W. Ouyang, E. Ricci, and N. Sebe</a:t>
            </a:r>
            <a:r>
              <a:rPr lang="en-IN" sz="800" dirty="0"/>
              <a:t>, “</a:t>
            </a:r>
            <a:r>
              <a:rPr lang="en-IN" sz="800" i="1" dirty="0"/>
              <a:t>ATRC: Attention to Relational Context for Multi-Task Learning</a:t>
            </a:r>
            <a:r>
              <a:rPr lang="en-IN" sz="800" dirty="0"/>
              <a:t>,” in </a:t>
            </a:r>
            <a:r>
              <a:rPr lang="en-IN" sz="800" i="1" dirty="0"/>
              <a:t>IEEE/CVF Conf. on Computer Vision and Pattern Recognition (CVPR)</a:t>
            </a:r>
            <a:r>
              <a:rPr lang="en-IN" sz="800" dirty="0"/>
              <a:t>, 2021, pp. 4031–4041.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996</Words>
  <Application>Microsoft Office PowerPoint</Application>
  <PresentationFormat>Custom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IBM Plex Sans Condensed</vt:lpstr>
      <vt:lpstr>Calibri</vt:lpstr>
      <vt:lpstr>Wingdings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Sarthak</dc:creator>
  <cp:lastModifiedBy>Anitha Ambati</cp:lastModifiedBy>
  <cp:revision>2</cp:revision>
  <dcterms:created xsi:type="dcterms:W3CDTF">2006-08-16T00:00:00Z</dcterms:created>
  <dcterms:modified xsi:type="dcterms:W3CDTF">2025-11-15T04:07:33Z</dcterms:modified>
</cp:coreProperties>
</file>